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afe897af-1680-c7ca-98c6-1049c3751a33}">
          <p14:sldIdLst>
            <p14:sldId id="256"/>
          </p14:sldIdLst>
        </p14:section>
        <p14:section name="Motivation" id="{b3bffbd7-2a3d-ebf3-13ec-5b63a6156ae6}">
          <p14:sldIdLst>
            <p14:sldId id="257"/>
            <p14:sldId id="258"/>
            <p14:sldId id="259"/>
          </p14:sldIdLst>
        </p14:section>
        <p14:section name="Data" id="{d7c49a0d-4850-94fe-17f4-29f83dbc4ed9}">
          <p14:sldIdLst>
            <p14:sldId id="260"/>
            <p14:sldId id="261"/>
            <p14:sldId id="262"/>
          </p14:sldIdLst>
        </p14:section>
        <p14:section name="Model" id="{7fa1951c-3676-8d51-2988-b96466185e70}">
          <p14:sldIdLst>
            <p14:sldId id="263"/>
            <p14:sldId id="264"/>
          </p14:sldIdLst>
        </p14:section>
        <p14:section name="Model Comparison" id="{536eced4-d498-adcb-1b63-5b0dfe438862}">
          <p14:sldIdLst>
            <p14:sldId id="265"/>
            <p14:sldId id="266"/>
            <p14:sldId id="267"/>
            <p14:sldId id="268"/>
          </p14:sldIdLst>
        </p14:section>
        <p14:section name="Conclusion" id="{0f138737-64ec-fb4c-fb5f-51209e18d5aa}">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E3D"/>
                </a:solidFill>
                <a:latin typeface="+mn-lt"/>
              </a:defRPr>
            </a:pPr>
            <a:r>
              <a:rPr sz="1400" b="0" i="0" u="none" strike="noStrike">
                <a:solidFill>
                  <a:srgbClr val="1F4E3D"/>
                </a:solidFill>
                <a:latin typeface="+mn-lt"/>
              </a:rPr>
              <a:t>% of programs above field median, by control</a:t>
            </a:r>
          </a:p>
        </c:rich>
      </c:tx>
      <c:layout/>
      <c:overlay val="0"/>
    </c:title>
    <c:autoTitleDeleted val="0"/>
    <c:plotArea>
      <c:layout/>
      <c:barChart>
        <c:barDir val="bar"/>
        <c:grouping val="clustered"/>
        <c:varyColors val="0"/>
        <c:ser>
          <c:idx val="0"/>
          <c:order val="0"/>
          <c:tx>
            <c:strRef>
              <c:f>Sheet1!$B$1</c:f>
              <c:strCache>
                <c:ptCount val="1"/>
                <c:pt idx="0">
                  <c:v>% above</c:v>
                </c:pt>
              </c:strCache>
            </c:strRef>
          </c:tx>
          <c:spPr>
            <a:solidFill>
              <a:srgbClr val="2E6B57"/>
            </a:solidFill>
            <a:effectLst/>
          </c:spPr>
          <c:invertIfNegative val="0"/>
          <c:dLbls>
            <c:numFmt formatCode="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Sheet1!$A$2:$A$4</c:f>
              <c:multiLvlStrCache>
                <c:ptCount val="3"/>
                <c:lvl>
                  <c:pt idx="0">
                    <c:v>Private, for-profit</c:v>
                  </c:pt>
                  <c:pt idx="1">
                    <c:v>Public</c:v>
                  </c:pt>
                  <c:pt idx="2">
                    <c:v>Private, nonprofit</c:v>
                  </c:pt>
                </c:lvl>
              </c:multiLvlStrCache>
            </c:multiLvlStrRef>
          </c:cat>
          <c:val>
            <c:numRef>
              <c:f>Sheet1!$B$2:$B$4</c:f>
              <c:numCache>
                <c:formatCode>General</c:formatCode>
                <c:ptCount val="3"/>
                <c:pt idx="0">
                  <c:v>41.4</c:v>
                </c:pt>
                <c:pt idx="1">
                  <c:v>45.8</c:v>
                </c:pt>
                <c:pt idx="2">
                  <c:v>52.3</c:v>
                </c:pt>
              </c:numCache>
            </c:numRef>
          </c:val>
        </c:ser>
        <c:dLbls>
          <c:numFmt formatCode="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E3D"/>
                </a:solidFill>
                <a:latin typeface="+mn-lt"/>
              </a:defRPr>
            </a:pPr>
            <a:r>
              <a:rPr sz="1400" b="0" i="0" u="none" strike="noStrike">
                <a:solidFill>
                  <a:srgbClr val="1F4E3D"/>
                </a:solidFill>
                <a:latin typeface="+mn-lt"/>
              </a:rPr>
              <a:t>% above field median, by region</a:t>
            </a:r>
          </a:p>
        </c:rich>
      </c:tx>
      <c:layout/>
      <c:overlay val="0"/>
    </c:title>
    <c:autoTitleDeleted val="0"/>
    <c:plotArea>
      <c:layout/>
      <c:barChart>
        <c:barDir val="bar"/>
        <c:grouping val="clustered"/>
        <c:varyColors val="0"/>
        <c:ser>
          <c:idx val="0"/>
          <c:order val="0"/>
          <c:tx>
            <c:strRef>
              <c:f>Sheet1!$B$1</c:f>
              <c:strCache>
                <c:ptCount val="1"/>
                <c:pt idx="0">
                  <c:v>% above</c:v>
                </c:pt>
              </c:strCache>
            </c:strRef>
          </c:tx>
          <c:spPr>
            <a:solidFill>
              <a:srgbClr val="2E6B57"/>
            </a:solidFill>
            <a:effectLst/>
          </c:spPr>
          <c:invertIfNegative val="0"/>
          <c:dLbls>
            <c:numFmt formatCode="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Sheet1!$A$2:$A$10</c:f>
              <c:multiLvlStrCache>
                <c:ptCount val="9"/>
                <c:lvl>
                  <c:pt idx="0">
                    <c:v>Outlying Areas</c:v>
                  </c:pt>
                  <c:pt idx="1">
                    <c:v>Southeast</c:v>
                  </c:pt>
                  <c:pt idx="2">
                    <c:v>Plains</c:v>
                  </c:pt>
                  <c:pt idx="3">
                    <c:v>Southwest</c:v>
                  </c:pt>
                  <c:pt idx="4">
                    <c:v>Great Lakes</c:v>
                  </c:pt>
                  <c:pt idx="5">
                    <c:v>Rocky Mountains</c:v>
                  </c:pt>
                  <c:pt idx="6">
                    <c:v>Mid East</c:v>
                  </c:pt>
                  <c:pt idx="7">
                    <c:v>New England</c:v>
                  </c:pt>
                  <c:pt idx="8">
                    <c:v>Far West</c:v>
                  </c:pt>
                </c:lvl>
              </c:multiLvlStrCache>
            </c:multiLvlStrRef>
          </c:cat>
          <c:val>
            <c:numRef>
              <c:f>Sheet1!$B$2:$B$10</c:f>
              <c:numCache>
                <c:formatCode>General</c:formatCode>
                <c:ptCount val="9"/>
                <c:pt idx="0">
                  <c:v>0.9</c:v>
                </c:pt>
                <c:pt idx="1">
                  <c:v>33.1</c:v>
                </c:pt>
                <c:pt idx="2">
                  <c:v>42.7</c:v>
                </c:pt>
                <c:pt idx="3">
                  <c:v>43</c:v>
                </c:pt>
                <c:pt idx="4">
                  <c:v>44.5</c:v>
                </c:pt>
                <c:pt idx="5">
                  <c:v>51</c:v>
                </c:pt>
                <c:pt idx="6">
                  <c:v>60.7</c:v>
                </c:pt>
                <c:pt idx="7">
                  <c:v>64.9</c:v>
                </c:pt>
                <c:pt idx="8">
                  <c:v>67</c:v>
                </c:pt>
              </c:numCache>
            </c:numRef>
          </c:val>
        </c:ser>
        <c:dLbls>
          <c:numFmt formatCode="0&quot;%&quot;"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E3D"/>
                </a:solidFill>
                <a:latin typeface="+mn-lt"/>
              </a:defRPr>
            </a:pPr>
            <a:r>
              <a:rPr sz="1400" b="0" i="0" u="none" strike="noStrike">
                <a:solidFill>
                  <a:srgbClr val="1F4E3D"/>
                </a:solidFill>
                <a:latin typeface="+mn-lt"/>
              </a:rPr>
              <a:t>Test ROC-AUC (higher is better)</a:t>
            </a:r>
          </a:p>
        </c:rich>
      </c:tx>
      <c:layout/>
      <c:overlay val="0"/>
    </c:title>
    <c:autoTitleDeleted val="0"/>
    <c:plotArea>
      <c:layout/>
      <c:barChart>
        <c:barDir val="bar"/>
        <c:grouping val="clustered"/>
        <c:varyColors val="0"/>
        <c:ser>
          <c:idx val="0"/>
          <c:order val="0"/>
          <c:tx>
            <c:strRef>
              <c:f>Sheet1!$B$1</c:f>
              <c:strCache>
                <c:ptCount val="1"/>
                <c:pt idx="0">
                  <c:v>Test AUC</c:v>
                </c:pt>
              </c:strCache>
            </c:strRef>
          </c:tx>
          <c:spPr>
            <a:solidFill>
              <a:srgbClr val="2E6B57"/>
            </a:solidFill>
            <a:effectLst/>
          </c:spPr>
          <c:invertIfNegative val="0"/>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dPt>
            <c:idx val="0"/>
            <c:invertIfNegative val="0"/>
            <c:bubble3D val="0"/>
            <c:spPr>
              <a:solidFill>
                <a:srgbClr val="2E6B57"/>
              </a:solidFill>
              <a:effectLst/>
            </c:spPr>
          </c:dPt>
          <c:dPt>
            <c:idx val="1"/>
            <c:invertIfNegative val="0"/>
            <c:bubble3D val="0"/>
            <c:spPr>
              <a:solidFill>
                <a:srgbClr val="2E6B57"/>
              </a:solidFill>
              <a:effectLst/>
            </c:spPr>
          </c:dPt>
          <c:dPt>
            <c:idx val="2"/>
            <c:invertIfNegative val="0"/>
            <c:bubble3D val="0"/>
            <c:spPr>
              <a:solidFill>
                <a:srgbClr val="2E6B57"/>
              </a:solidFill>
              <a:effectLst/>
            </c:spPr>
          </c:dPt>
          <c:dPt>
            <c:idx val="3"/>
            <c:invertIfNegative val="0"/>
            <c:bubble3D val="0"/>
            <c:spPr>
              <a:solidFill>
                <a:srgbClr val="C98B1B"/>
              </a:solidFill>
              <a:effectLst/>
            </c:spPr>
          </c:dPt>
          <c:cat>
            <c:multiLvlStrRef>
              <c:f>Sheet1!$A$2:$A$5</c:f>
              <c:multiLvlStrCache>
                <c:ptCount val="4"/>
                <c:lvl>
                  <c:pt idx="0">
                    <c:v>Decision Tree</c:v>
                  </c:pt>
                  <c:pt idx="1">
                    <c:v>Logistic Regression</c:v>
                  </c:pt>
                  <c:pt idx="2">
                    <c:v>Random Forest</c:v>
                  </c:pt>
                  <c:pt idx="3">
                    <c:v>XGBoost</c:v>
                  </c:pt>
                </c:lvl>
              </c:multiLvlStrCache>
            </c:multiLvlStrRef>
          </c:cat>
          <c:val>
            <c:numRef>
              <c:f>Sheet1!$B$2:$B$5</c:f>
              <c:numCache>
                <c:formatCode>General</c:formatCode>
                <c:ptCount val="4"/>
                <c:pt idx="0">
                  <c:v>0.698</c:v>
                </c:pt>
                <c:pt idx="1">
                  <c:v>0.735</c:v>
                </c:pt>
                <c:pt idx="2">
                  <c:v>0.778</c:v>
                </c:pt>
                <c:pt idx="3">
                  <c:v>0.781</c:v>
                </c:pt>
              </c:numCache>
            </c:numRef>
          </c:val>
        </c:ser>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max val="0.85"/>
          <c:min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E3D"/>
                </a:solidFill>
                <a:latin typeface="+mn-lt"/>
              </a:defRPr>
            </a:pPr>
            <a:r>
              <a:rPr sz="1400" b="0" i="0" u="none" strike="noStrike">
                <a:solidFill>
                  <a:srgbClr val="1F4E3D"/>
                </a:solidFill>
                <a:latin typeface="+mn-lt"/>
              </a:rPr>
              <a:t>Drop in test AUC when shuffled (XGBoost)</a:t>
            </a:r>
          </a:p>
        </c:rich>
      </c:tx>
      <c:layout/>
      <c:overlay val="0"/>
    </c:title>
    <c:autoTitleDeleted val="0"/>
    <c:plotArea>
      <c:layout/>
      <c:barChart>
        <c:barDir val="bar"/>
        <c:grouping val="clustered"/>
        <c:varyColors val="0"/>
        <c:ser>
          <c:idx val="0"/>
          <c:order val="0"/>
          <c:tx>
            <c:strRef>
              <c:f>Sheet1!$B$1</c:f>
              <c:strCache>
                <c:ptCount val="1"/>
                <c:pt idx="0">
                  <c:v>AUC drop</c:v>
                </c:pt>
              </c:strCache>
            </c:strRef>
          </c:tx>
          <c:spPr>
            <a:solidFill>
              <a:srgbClr val="2E6B57"/>
            </a:solidFill>
            <a:effectLst/>
          </c:spPr>
          <c:invertIfNegative val="0"/>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cat>
            <c:multiLvlStrRef>
              <c:f>Sheet1!$A$2:$A$11</c:f>
              <c:multiLvlStrCache>
                <c:ptCount val="10"/>
                <c:lvl>
                  <c:pt idx="0">
                    <c:v>State</c:v>
                  </c:pt>
                  <c:pt idx="1">
                    <c:v>Average SAT</c:v>
                  </c:pt>
                  <c:pt idx="2">
                    <c:v>Region</c:v>
                  </c:pt>
                  <c:pt idx="3">
                    <c:v>Field family</c:v>
                  </c:pt>
                  <c:pt idx="4">
                    <c:v>Credential level</c:v>
                  </c:pt>
                  <c:pt idx="5">
                    <c:v>Field national p25 earnings</c:v>
                  </c:pt>
                  <c:pt idx="6">
                    <c:v>Latitude</c:v>
                  </c:pt>
                  <c:pt idx="7">
                    <c:v>Out-of-state tuition</c:v>
                  </c:pt>
                  <c:pt idx="8">
                    <c:v>School enrollment (log)</c:v>
                  </c:pt>
                  <c:pt idx="9">
                    <c:v>Longitude</c:v>
                  </c:pt>
                </c:lvl>
              </c:multiLvlStrCache>
            </c:multiLvlStrRef>
          </c:cat>
          <c:val>
            <c:numRef>
              <c:f>Sheet1!$B$2:$B$11</c:f>
              <c:numCache>
                <c:formatCode>General</c:formatCode>
                <c:ptCount val="10"/>
                <c:pt idx="0">
                  <c:v>0.0069</c:v>
                </c:pt>
                <c:pt idx="1">
                  <c:v>0.0072</c:v>
                </c:pt>
                <c:pt idx="2">
                  <c:v>0.0074</c:v>
                </c:pt>
                <c:pt idx="3">
                  <c:v>0.0078</c:v>
                </c:pt>
                <c:pt idx="4">
                  <c:v>0.0133</c:v>
                </c:pt>
                <c:pt idx="5">
                  <c:v>0.0192</c:v>
                </c:pt>
                <c:pt idx="6">
                  <c:v>0.0207</c:v>
                </c:pt>
                <c:pt idx="7">
                  <c:v>0.021</c:v>
                </c:pt>
                <c:pt idx="8">
                  <c:v>0.0307</c:v>
                </c:pt>
                <c:pt idx="9">
                  <c:v>0.0324</c:v>
                </c:pt>
              </c:numCache>
            </c:numRef>
          </c:val>
        </c:ser>
        <c:dLbls>
          <c:numFmt formatCode="0.000" sourceLinked="0"/>
          <c:txPr>
            <a:bodyPr/>
            <a:lstStyle/>
            <a:p>
              <a:pPr>
                <a:defRPr b="0" i="0" strike="noStrike" sz="1200" u="none">
                  <a:solidFill>
                    <a:srgbClr val="1A1A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6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one-sentence question: given a field of study, does this particular school’s program pay more than the national norm for that field?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roadmap of how we did the project. It follows the ML workflow from Lecture 1 and the five sections of the project outline. Each step maps to a lecture: preprocessing (supplementary module), tuning and CV (Lecture 3), classification metrics (Lecture 4), trees (Lecture 7), ensembles (Lectures 8 and 10a).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pick a school as much as a major. Example: bachelor’s in nursing. Across 880 schools that report earnings, graduates four years out range from about $74K at the 10th percentile to $105K at the 90th, around a national median of $89K. Our question: can we tell, before enrolling, whether a program will land above its field’s national median? We only use information a student can see at decision time.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salary is mostly about the field: engineering pays more than education. A model predicting raw salary would mostly learn the major, which a student already knows. By comparing each program to its own field-and-credential national median, the target isolates the school effect and becomes balanced.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merged at the program level. Earnings are privacy-suppressed for 74.5% of programs, so those have no label. We also found an anomaly: multi-campus schools that report one shared outcome were repeated once per campus with identical earnings, so we removed 6,245 duplicate rows. Finally we split by institution so the test set contains only unseen schools.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Emphasize leakage control (we dropped every post-graduation variable), and that the winsorizing caps and imputation are learned from training data only. The group split is the reason our test scores are realistic.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For-profit programs beat their field median least often; private non-profits most often. New England, the Far West and the Mid East lead; the Southeast trails. Overall rate is 47.3%. These patterns preview what the models will find.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share one pipeline and are tuned with grid or randomized search plus 3-fold GroupKFold on ROC-AUC (Lecture 3): logistic regression, CART, random forest and XGBoost, all covered in lectures. Read the selected settings: L2 won for logistic, a moderately pruned tree, and a well-regularized XGBoost.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boosting plus gradient plus trees, with a complexity penalty (gamma, reg_lambda) and histogram split-finding, exactly the Lecture 10a recipe. The search picked a slow learning rate with many trees, row subsampling and stronger L2, which is a well-regularized setup. Random forest: bagging, many deep trees built in parallel on bootstrap samples and averaged, which lowers variance. XGBoost builds trees one after another, each fixing the last one’s errors, which lowers bias. Both come from Lecture 8.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metric is ROC-AUC because the classes are balanced and we care about ranking. We also report PR-AUC, accuracy, precision, recall, F1 and log loss, all on 10,881 programs from schools the models never saw. Majority-class baseline accuracy is 52.7%.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ROC. The tree ensembles sit on top across the whole range, logistic regression below, and the single tree lowest. Right: precision-recall. At any recall level, the ensembles give the highest precision.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8’s wisdom-of-the-crowd effect, live in our data. A single pruned CART tree gets 0.698. Bagging the same trees (random forest) gets 0.778, and boosting them (XGBoost) gets 0.781. Both ensembles also beat the linear model.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how much test AUC drops when we shuffle one feature. Longitude is the top single feature, likely regional wage levels, and latitude, region and state also make the top ten. School size and out-of-state tuition are next, then the field’s own earnings floor, credential level and selectivity. Logistic coefficients agree: for-profit lowers the odds; the Far West and Mid East raise them.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question: yes, using only pre-enrollment information we can flag programs that will beat their field’s median, with an AUC of 0.78 on unseen schools. Three insights for students and for us as modelers.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from the process, not just the results. These are the moments where a careless choice would have given a misleadingly good or wrong answer.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only reported programs, location may proxy for cost of living, and these are associations, not causes. Next steps connect to later course topics: K-Means segments (Lecture 10) and explainability.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Q&amp;A (~5 minutes). Likely questions: why the group split (memorizing schools); why AUC as the primary metric (balanced classes, ranking); why not raw salary (the field effect); what the location effect means (regional wages).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96012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611880"/>
            <a:ext cx="9601200" cy="118872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rtlCol="0"/>
          <a:lstStyle>
            <a:lvl1pPr indent="0" marL="0">
              <a:buNone/>
              <a:defRPr lang="en-US" sz="1200" b="1" spc="2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BUAN 6341 · Will This Program Pay Off?</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9601200" cy="1463040"/>
          </a:xfrm>
          <a:prstGeom prst="rect">
            <a:avLst/>
          </a:prstGeom>
          <a:noFill/>
          <a:ln/>
        </p:spPr>
        <p:txBody>
          <a:bodyPr wrap="square" lIns="0" tIns="0" rIns="0" bIns="0" rtlCol="0" anchor="b"/>
          <a:lstStyle/>
          <a:p>
            <a:pPr algn="l" indent="0" marL="0">
              <a:buNone/>
            </a:pPr>
            <a:r>
              <a:rPr lang="en-US" sz="4800" b="1" dirty="0">
                <a:solidFill>
                  <a:schemeClr val="bg1"/>
                </a:solidFill>
              </a:rPr>
              <a:t>Will This Program Pay Off?</a:t>
            </a:r>
            <a:endParaRPr lang="en-US" sz="4800" dirty="0"/>
          </a:p>
        </p:txBody>
      </p:sp>
      <p:sp>
        <p:nvSpPr>
          <p:cNvPr id="3" name="Text 0"/>
          <p:cNvSpPr/>
          <p:nvPr>
            <p:ph idx="101" type="body" hasCustomPrompt="1"/>
          </p:nvPr>
        </p:nvSpPr>
        <p:spPr>
          <a:xfrm>
            <a:off x="548640" y="3611880"/>
            <a:ext cx="9601200" cy="1188720"/>
          </a:xfrm>
          <a:prstGeom prst="rect">
            <a:avLst/>
          </a:prstGeom>
          <a:noFill/>
          <a:ln/>
        </p:spPr>
        <p:txBody>
          <a:bodyPr wrap="square" lIns="0" tIns="0" rIns="0" bIns="0" rtlCol="0" anchor="t"/>
          <a:lstStyle/>
          <a:p>
            <a:pPr indent="0" marL="0">
              <a:buNone/>
            </a:pPr>
            <a:r>
              <a:rPr lang="en-US" sz="2000" dirty="0">
                <a:solidFill>
                  <a:schemeClr val="accent5"/>
                </a:solidFill>
              </a:rPr>
              <a:t>Predicting which college programs beat their field’s national earnings median</a:t>
            </a:r>
            <a:endParaRPr lang="en-US" sz="2000" dirty="0"/>
          </a:p>
          <a:p>
            <a:pPr indent="0" marL="0">
              <a:buNone/>
            </a:pPr>
            <a:r>
              <a:rPr lang="en-US" sz="1400" dirty="0">
                <a:solidFill>
                  <a:schemeClr val="accent3"/>
                </a:solidFill>
              </a:rPr>
              <a:t>BUAN 6341 Applied Machine Learning · Group Project · Fall 2026</a:t>
            </a:r>
            <a:endParaRPr lang="en-US" sz="2000" dirty="0"/>
          </a:p>
        </p:txBody>
      </p:sp>
      <p:sp>
        <p:nvSpPr>
          <p:cNvPr id="4" name="Text 2"/>
          <p:cNvSpPr txBox="1"/>
          <p:nvPr/>
        </p:nvSpPr>
        <p:spPr>
          <a:xfrm>
            <a:off x="548640" y="5943600"/>
            <a:ext cx="7315200" cy="365760"/>
          </a:xfrm>
          <a:prstGeom prst="rect">
            <a:avLst/>
          </a:prstGeom>
          <a:noFill/>
          <a:ln/>
        </p:spPr>
        <p:txBody>
          <a:bodyPr wrap="square" lIns="0" tIns="0" rIns="0" bIns="0" rtlCol="0" anchor="ctr"/>
          <a:lstStyle/>
          <a:p>
            <a:pPr indent="0" marL="0">
              <a:buNone/>
            </a:pPr>
            <a:r>
              <a:rPr lang="en-US" sz="1400" dirty="0">
                <a:solidFill>
                  <a:schemeClr val="accent3"/>
                </a:solidFill>
              </a:rPr>
              <a:t>Group members: ____________________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1 · MOTIVATION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Our approach: the machine learning workflow, end to end</a:t>
            </a:r>
            <a:endParaRPr lang="en-US" sz="3200" dirty="0"/>
          </a:p>
        </p:txBody>
      </p:sp>
      <p:sp>
        <p:nvSpPr>
          <p:cNvPr id="5" name="workflow Define"/>
          <p:cNvSpPr/>
          <p:nvPr/>
        </p:nvSpPr>
        <p:spPr>
          <a:xfrm>
            <a:off x="548640" y="1920240"/>
            <a:ext cx="1658569" cy="3108960"/>
          </a:xfrm>
          <a:prstGeom prst="roundRect">
            <a:avLst>
              <a:gd name="adj" fmla="val 4411"/>
            </a:avLst>
          </a:prstGeom>
          <a:solidFill>
            <a:schemeClr val="bg2"/>
          </a:solidFill>
          <a:ln w="12700">
            <a:solidFill>
              <a:schemeClr val="bg2"/>
            </a:solidFill>
            <a:prstDash val="solid"/>
          </a:ln>
        </p:spPr>
      </p:sp>
      <p:sp>
        <p:nvSpPr>
          <p:cNvPr id="6" name="badge 1"/>
          <p:cNvSpPr/>
          <p:nvPr/>
        </p:nvSpPr>
        <p:spPr>
          <a:xfrm>
            <a:off x="1103605" y="2148840"/>
            <a:ext cx="548640" cy="548640"/>
          </a:xfrm>
          <a:prstGeom prst="ellipse">
            <a:avLst/>
          </a:prstGeom>
          <a:solidFill>
            <a:schemeClr val="accent2"/>
          </a:solidFill>
          <a:ln w="12700">
            <a:solidFill>
              <a:schemeClr val="accent2"/>
            </a:solidFill>
            <a:prstDash val="solid"/>
          </a:ln>
        </p:spPr>
      </p:sp>
      <p:sp>
        <p:nvSpPr>
          <p:cNvPr id="7" name="Text 4"/>
          <p:cNvSpPr txBox="1"/>
          <p:nvPr/>
        </p:nvSpPr>
        <p:spPr>
          <a:xfrm>
            <a:off x="1103605"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640080"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Define</a:t>
            </a:r>
            <a:endParaRPr lang="en-US" sz="1700" dirty="0"/>
          </a:p>
        </p:txBody>
      </p:sp>
      <p:sp>
        <p:nvSpPr>
          <p:cNvPr id="9" name="Text 6"/>
          <p:cNvSpPr txBox="1"/>
          <p:nvPr/>
        </p:nvSpPr>
        <p:spPr>
          <a:xfrm>
            <a:off x="685800"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Frame a balanced yes/no target vs. the field median</a:t>
            </a:r>
            <a:endParaRPr lang="en-US" sz="1300" dirty="0"/>
          </a:p>
        </p:txBody>
      </p:sp>
      <p:sp>
        <p:nvSpPr>
          <p:cNvPr id="10" name="workflow Clean"/>
          <p:cNvSpPr/>
          <p:nvPr/>
        </p:nvSpPr>
        <p:spPr>
          <a:xfrm>
            <a:off x="2435809" y="1920240"/>
            <a:ext cx="1658569" cy="3108960"/>
          </a:xfrm>
          <a:prstGeom prst="roundRect">
            <a:avLst>
              <a:gd name="adj" fmla="val 4411"/>
            </a:avLst>
          </a:prstGeom>
          <a:solidFill>
            <a:schemeClr val="bg2"/>
          </a:solidFill>
          <a:ln w="12700">
            <a:solidFill>
              <a:schemeClr val="bg2"/>
            </a:solidFill>
            <a:prstDash val="solid"/>
          </a:ln>
        </p:spPr>
      </p:sp>
      <p:sp>
        <p:nvSpPr>
          <p:cNvPr id="11" name="badge 2"/>
          <p:cNvSpPr/>
          <p:nvPr/>
        </p:nvSpPr>
        <p:spPr>
          <a:xfrm>
            <a:off x="2990774" y="2148840"/>
            <a:ext cx="548640" cy="548640"/>
          </a:xfrm>
          <a:prstGeom prst="ellipse">
            <a:avLst/>
          </a:prstGeom>
          <a:solidFill>
            <a:schemeClr val="accent2"/>
          </a:solidFill>
          <a:ln w="12700">
            <a:solidFill>
              <a:schemeClr val="accent2"/>
            </a:solidFill>
            <a:prstDash val="solid"/>
          </a:ln>
        </p:spPr>
      </p:sp>
      <p:sp>
        <p:nvSpPr>
          <p:cNvPr id="12" name="Text 9"/>
          <p:cNvSpPr txBox="1"/>
          <p:nvPr/>
        </p:nvSpPr>
        <p:spPr>
          <a:xfrm>
            <a:off x="2990774"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2527249"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Clean</a:t>
            </a:r>
            <a:endParaRPr lang="en-US" sz="1700" dirty="0"/>
          </a:p>
        </p:txBody>
      </p:sp>
      <p:sp>
        <p:nvSpPr>
          <p:cNvPr id="14" name="Text 11"/>
          <p:cNvSpPr txBox="1"/>
          <p:nvPr/>
        </p:nvSpPr>
        <p:spPr>
          <a:xfrm>
            <a:off x="2572969"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Leakage, duplicates, outliers, missing values</a:t>
            </a:r>
            <a:endParaRPr lang="en-US" sz="1300" dirty="0"/>
          </a:p>
        </p:txBody>
      </p:sp>
      <p:sp>
        <p:nvSpPr>
          <p:cNvPr id="15" name="workflow Explore"/>
          <p:cNvSpPr/>
          <p:nvPr/>
        </p:nvSpPr>
        <p:spPr>
          <a:xfrm>
            <a:off x="4322978" y="1920240"/>
            <a:ext cx="1658569" cy="3108960"/>
          </a:xfrm>
          <a:prstGeom prst="roundRect">
            <a:avLst>
              <a:gd name="adj" fmla="val 4411"/>
            </a:avLst>
          </a:prstGeom>
          <a:solidFill>
            <a:schemeClr val="bg2"/>
          </a:solidFill>
          <a:ln w="12700">
            <a:solidFill>
              <a:schemeClr val="bg2"/>
            </a:solidFill>
            <a:prstDash val="solid"/>
          </a:ln>
        </p:spPr>
      </p:sp>
      <p:sp>
        <p:nvSpPr>
          <p:cNvPr id="16" name="badge 3"/>
          <p:cNvSpPr/>
          <p:nvPr/>
        </p:nvSpPr>
        <p:spPr>
          <a:xfrm>
            <a:off x="4877943" y="2148840"/>
            <a:ext cx="548640" cy="548640"/>
          </a:xfrm>
          <a:prstGeom prst="ellipse">
            <a:avLst/>
          </a:prstGeom>
          <a:solidFill>
            <a:schemeClr val="accent2"/>
          </a:solidFill>
          <a:ln w="12700">
            <a:solidFill>
              <a:schemeClr val="accent2"/>
            </a:solidFill>
            <a:prstDash val="solid"/>
          </a:ln>
        </p:spPr>
      </p:sp>
      <p:sp>
        <p:nvSpPr>
          <p:cNvPr id="17" name="Text 14"/>
          <p:cNvSpPr txBox="1"/>
          <p:nvPr/>
        </p:nvSpPr>
        <p:spPr>
          <a:xfrm>
            <a:off x="4877943"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4414418"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Explore</a:t>
            </a:r>
            <a:endParaRPr lang="en-US" sz="1700" dirty="0"/>
          </a:p>
        </p:txBody>
      </p:sp>
      <p:sp>
        <p:nvSpPr>
          <p:cNvPr id="19" name="Text 16"/>
          <p:cNvSpPr txBox="1"/>
          <p:nvPr/>
        </p:nvSpPr>
        <p:spPr>
          <a:xfrm>
            <a:off x="4460138"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Distributions, segments, correlations</a:t>
            </a:r>
            <a:endParaRPr lang="en-US" sz="1300" dirty="0"/>
          </a:p>
        </p:txBody>
      </p:sp>
      <p:sp>
        <p:nvSpPr>
          <p:cNvPr id="20" name="workflow Engineer"/>
          <p:cNvSpPr/>
          <p:nvPr/>
        </p:nvSpPr>
        <p:spPr>
          <a:xfrm>
            <a:off x="6210148" y="1920240"/>
            <a:ext cx="1658569" cy="3108960"/>
          </a:xfrm>
          <a:prstGeom prst="roundRect">
            <a:avLst>
              <a:gd name="adj" fmla="val 4411"/>
            </a:avLst>
          </a:prstGeom>
          <a:solidFill>
            <a:schemeClr val="bg2"/>
          </a:solidFill>
          <a:ln w="12700">
            <a:solidFill>
              <a:schemeClr val="bg2"/>
            </a:solidFill>
            <a:prstDash val="solid"/>
          </a:ln>
        </p:spPr>
      </p:sp>
      <p:sp>
        <p:nvSpPr>
          <p:cNvPr id="21" name="badge 4"/>
          <p:cNvSpPr/>
          <p:nvPr/>
        </p:nvSpPr>
        <p:spPr>
          <a:xfrm>
            <a:off x="6765112" y="2148840"/>
            <a:ext cx="548640" cy="548640"/>
          </a:xfrm>
          <a:prstGeom prst="ellipse">
            <a:avLst/>
          </a:prstGeom>
          <a:solidFill>
            <a:schemeClr val="accent2"/>
          </a:solidFill>
          <a:ln w="12700">
            <a:solidFill>
              <a:schemeClr val="accent2"/>
            </a:solidFill>
            <a:prstDash val="solid"/>
          </a:ln>
        </p:spPr>
      </p:sp>
      <p:sp>
        <p:nvSpPr>
          <p:cNvPr id="22" name="Text 19"/>
          <p:cNvSpPr txBox="1"/>
          <p:nvPr/>
        </p:nvSpPr>
        <p:spPr>
          <a:xfrm>
            <a:off x="6765112"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6301588"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Engineer</a:t>
            </a:r>
            <a:endParaRPr lang="en-US" sz="1700" dirty="0"/>
          </a:p>
        </p:txBody>
      </p:sp>
      <p:sp>
        <p:nvSpPr>
          <p:cNvPr id="24" name="Text 21"/>
          <p:cNvSpPr txBox="1"/>
          <p:nvPr/>
        </p:nvSpPr>
        <p:spPr>
          <a:xfrm>
            <a:off x="6347308"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Log transforms, tuition gap, encoding, scaling</a:t>
            </a:r>
            <a:endParaRPr lang="en-US" sz="1300" dirty="0"/>
          </a:p>
        </p:txBody>
      </p:sp>
      <p:sp>
        <p:nvSpPr>
          <p:cNvPr id="25" name="workflow Train &amp; tune"/>
          <p:cNvSpPr/>
          <p:nvPr/>
        </p:nvSpPr>
        <p:spPr>
          <a:xfrm>
            <a:off x="8097317" y="1920240"/>
            <a:ext cx="1658569" cy="3108960"/>
          </a:xfrm>
          <a:prstGeom prst="roundRect">
            <a:avLst>
              <a:gd name="adj" fmla="val 4411"/>
            </a:avLst>
          </a:prstGeom>
          <a:solidFill>
            <a:schemeClr val="bg2"/>
          </a:solidFill>
          <a:ln w="12700">
            <a:solidFill>
              <a:schemeClr val="bg2"/>
            </a:solidFill>
            <a:prstDash val="solid"/>
          </a:ln>
        </p:spPr>
      </p:sp>
      <p:sp>
        <p:nvSpPr>
          <p:cNvPr id="26" name="badge 5"/>
          <p:cNvSpPr/>
          <p:nvPr/>
        </p:nvSpPr>
        <p:spPr>
          <a:xfrm>
            <a:off x="8652281" y="2148840"/>
            <a:ext cx="548640" cy="548640"/>
          </a:xfrm>
          <a:prstGeom prst="ellipse">
            <a:avLst/>
          </a:prstGeom>
          <a:solidFill>
            <a:schemeClr val="accent2"/>
          </a:solidFill>
          <a:ln w="12700">
            <a:solidFill>
              <a:schemeClr val="accent2"/>
            </a:solidFill>
            <a:prstDash val="solid"/>
          </a:ln>
        </p:spPr>
      </p:sp>
      <p:sp>
        <p:nvSpPr>
          <p:cNvPr id="27" name="Text 24"/>
          <p:cNvSpPr txBox="1"/>
          <p:nvPr/>
        </p:nvSpPr>
        <p:spPr>
          <a:xfrm>
            <a:off x="8652281"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8" name="Text 25"/>
          <p:cNvSpPr txBox="1"/>
          <p:nvPr/>
        </p:nvSpPr>
        <p:spPr>
          <a:xfrm>
            <a:off x="8188757"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Train &amp; tune</a:t>
            </a:r>
            <a:endParaRPr lang="en-US" sz="1700" dirty="0"/>
          </a:p>
        </p:txBody>
      </p:sp>
      <p:sp>
        <p:nvSpPr>
          <p:cNvPr id="29" name="Text 26"/>
          <p:cNvSpPr txBox="1"/>
          <p:nvPr/>
        </p:nvSpPr>
        <p:spPr>
          <a:xfrm>
            <a:off x="8234477"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4 models, grid/random search, group CV</a:t>
            </a:r>
            <a:endParaRPr lang="en-US" sz="1300" dirty="0"/>
          </a:p>
        </p:txBody>
      </p:sp>
      <p:sp>
        <p:nvSpPr>
          <p:cNvPr id="30" name="workflow Evaluate"/>
          <p:cNvSpPr/>
          <p:nvPr/>
        </p:nvSpPr>
        <p:spPr>
          <a:xfrm>
            <a:off x="9984486" y="1920240"/>
            <a:ext cx="1658569" cy="3108960"/>
          </a:xfrm>
          <a:prstGeom prst="roundRect">
            <a:avLst>
              <a:gd name="adj" fmla="val 4411"/>
            </a:avLst>
          </a:prstGeom>
          <a:solidFill>
            <a:schemeClr val="bg2"/>
          </a:solidFill>
          <a:ln w="12700">
            <a:solidFill>
              <a:schemeClr val="bg2"/>
            </a:solidFill>
            <a:prstDash val="solid"/>
          </a:ln>
        </p:spPr>
      </p:sp>
      <p:sp>
        <p:nvSpPr>
          <p:cNvPr id="31" name="badge 6"/>
          <p:cNvSpPr/>
          <p:nvPr/>
        </p:nvSpPr>
        <p:spPr>
          <a:xfrm>
            <a:off x="10539451" y="2148840"/>
            <a:ext cx="548640" cy="548640"/>
          </a:xfrm>
          <a:prstGeom prst="ellipse">
            <a:avLst/>
          </a:prstGeom>
          <a:solidFill>
            <a:schemeClr val="accent2"/>
          </a:solidFill>
          <a:ln w="12700">
            <a:solidFill>
              <a:schemeClr val="accent2"/>
            </a:solidFill>
            <a:prstDash val="solid"/>
          </a:ln>
        </p:spPr>
      </p:sp>
      <p:sp>
        <p:nvSpPr>
          <p:cNvPr id="32" name="Text 29"/>
          <p:cNvSpPr txBox="1"/>
          <p:nvPr/>
        </p:nvSpPr>
        <p:spPr>
          <a:xfrm>
            <a:off x="10539451" y="21488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3" name="Text 30"/>
          <p:cNvSpPr txBox="1"/>
          <p:nvPr/>
        </p:nvSpPr>
        <p:spPr>
          <a:xfrm>
            <a:off x="10075926" y="2880360"/>
            <a:ext cx="1475689" cy="457200"/>
          </a:xfrm>
          <a:prstGeom prst="rect">
            <a:avLst/>
          </a:prstGeom>
          <a:noFill/>
          <a:ln/>
        </p:spPr>
        <p:txBody>
          <a:bodyPr wrap="square" lIns="0" tIns="0" rIns="0" bIns="0" rtlCol="0" anchor="ctr"/>
          <a:lstStyle/>
          <a:p>
            <a:pPr algn="ctr" indent="0" marL="0">
              <a:buNone/>
            </a:pPr>
            <a:r>
              <a:rPr lang="en-US" sz="1700" b="1" dirty="0">
                <a:solidFill>
                  <a:schemeClr val="tx2"/>
                </a:solidFill>
              </a:rPr>
              <a:t>Evaluate</a:t>
            </a:r>
            <a:endParaRPr lang="en-US" sz="1700" dirty="0"/>
          </a:p>
        </p:txBody>
      </p:sp>
      <p:sp>
        <p:nvSpPr>
          <p:cNvPr id="34" name="Text 31"/>
          <p:cNvSpPr txBox="1"/>
          <p:nvPr/>
        </p:nvSpPr>
        <p:spPr>
          <a:xfrm>
            <a:off x="10121646" y="3383280"/>
            <a:ext cx="1384249" cy="1463040"/>
          </a:xfrm>
          <a:prstGeom prst="rect">
            <a:avLst/>
          </a:prstGeom>
          <a:noFill/>
          <a:ln/>
        </p:spPr>
        <p:txBody>
          <a:bodyPr wrap="square" lIns="0" tIns="0" rIns="0" bIns="0" rtlCol="0" anchor="t"/>
          <a:lstStyle/>
          <a:p>
            <a:pPr algn="ctr" indent="0" marL="0">
              <a:buNone/>
            </a:pPr>
            <a:r>
              <a:rPr lang="en-US" sz="1300" dirty="0">
                <a:solidFill>
                  <a:schemeClr val="tx1"/>
                </a:solidFill>
              </a:rPr>
              <a:t>AUC, PR-AUC, F1, log loss on unseen schools</a:t>
            </a:r>
            <a:endParaRPr lang="en-US" sz="1300" dirty="0"/>
          </a:p>
        </p:txBody>
      </p:sp>
      <p:sp>
        <p:nvSpPr>
          <p:cNvPr id="35" name="Text 32"/>
          <p:cNvSpPr txBox="1"/>
          <p:nvPr/>
        </p:nvSpPr>
        <p:spPr>
          <a:xfrm>
            <a:off x="548640" y="5394960"/>
            <a:ext cx="11094415" cy="365760"/>
          </a:xfrm>
          <a:prstGeom prst="rect">
            <a:avLst/>
          </a:prstGeom>
          <a:noFill/>
          <a:ln/>
        </p:spPr>
        <p:txBody>
          <a:bodyPr wrap="square" lIns="0" tIns="0" rIns="0" bIns="0" rtlCol="0" anchor="ctr"/>
          <a:lstStyle/>
          <a:p>
            <a:pPr indent="0" marL="0">
              <a:buNone/>
            </a:pPr>
            <a:r>
              <a:rPr lang="en-US" sz="1400" i="1" dirty="0">
                <a:solidFill>
                  <a:schemeClr val="accent4"/>
                </a:solidFill>
              </a:rPr>
              <a:t>Tools: Python, pandas, scikit-learn, XGBoost, matplotlib/seaborn · Jupyter notebook · Git/GitHub for version control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1 · MOTIVATION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Same major, very different payoff</a:t>
            </a:r>
            <a:endParaRPr lang="en-US" sz="3200" dirty="0"/>
          </a:p>
        </p:txBody>
      </p:sp>
      <p:sp>
        <p:nvSpPr>
          <p:cNvPr id="5" name="nursing example card"/>
          <p:cNvSpPr/>
          <p:nvPr/>
        </p:nvSpPr>
        <p:spPr>
          <a:xfrm>
            <a:off x="548640" y="1554480"/>
            <a:ext cx="4937760" cy="4480560"/>
          </a:xfrm>
          <a:prstGeom prst="roundRect">
            <a:avLst>
              <a:gd name="adj" fmla="val 1633"/>
            </a:avLst>
          </a:prstGeom>
          <a:solidFill>
            <a:schemeClr val="bg2"/>
          </a:solidFill>
          <a:ln w="12700">
            <a:solidFill>
              <a:schemeClr val="bg2"/>
            </a:solidFill>
            <a:prstDash val="solid"/>
          </a:ln>
        </p:spPr>
      </p:sp>
      <p:sp>
        <p:nvSpPr>
          <p:cNvPr id="6" name="Text 3"/>
          <p:cNvSpPr txBox="1"/>
          <p:nvPr/>
        </p:nvSpPr>
        <p:spPr>
          <a:xfrm>
            <a:off x="868680" y="1783080"/>
            <a:ext cx="4297680" cy="365760"/>
          </a:xfrm>
          <a:prstGeom prst="rect">
            <a:avLst/>
          </a:prstGeom>
          <a:noFill/>
          <a:ln/>
        </p:spPr>
        <p:txBody>
          <a:bodyPr wrap="square" lIns="0" tIns="0" rIns="0" bIns="0" rtlCol="0" anchor="ctr"/>
          <a:lstStyle/>
          <a:p>
            <a:pPr indent="0" marL="0">
              <a:buNone/>
            </a:pPr>
            <a:r>
              <a:rPr lang="en-US" sz="1400" b="1" dirty="0">
                <a:solidFill>
                  <a:schemeClr val="tx2"/>
                </a:solidFill>
              </a:rPr>
              <a:t>Bachelor’s in Nursing, 4 years after graduation</a:t>
            </a:r>
            <a:endParaRPr lang="en-US" sz="1400" dirty="0"/>
          </a:p>
        </p:txBody>
      </p:sp>
      <p:sp>
        <p:nvSpPr>
          <p:cNvPr id="7" name="Text 4"/>
          <p:cNvSpPr txBox="1"/>
          <p:nvPr/>
        </p:nvSpPr>
        <p:spPr>
          <a:xfrm>
            <a:off x="868680" y="2331720"/>
            <a:ext cx="4297680" cy="1005840"/>
          </a:xfrm>
          <a:prstGeom prst="rect">
            <a:avLst/>
          </a:prstGeom>
          <a:noFill/>
          <a:ln/>
        </p:spPr>
        <p:txBody>
          <a:bodyPr wrap="square" lIns="0" tIns="0" rIns="0" bIns="0" rtlCol="0" anchor="ctr"/>
          <a:lstStyle/>
          <a:p>
            <a:pPr indent="0" marL="0">
              <a:buNone/>
            </a:pPr>
            <a:r>
              <a:rPr lang="en-US" sz="4200" b="1" dirty="0">
                <a:solidFill>
                  <a:schemeClr val="accent1"/>
                </a:solidFill>
                <a:latin typeface="Cambria" pitchFamily="34" charset="0"/>
                <a:ea typeface="Cambria" pitchFamily="34" charset="-122"/>
                <a:cs typeface="Cambria" pitchFamily="34" charset="-120"/>
              </a:rPr>
              <a:t>$74K – $105K</a:t>
            </a:r>
            <a:endParaRPr lang="en-US" sz="4200" dirty="0"/>
          </a:p>
        </p:txBody>
      </p:sp>
      <p:sp>
        <p:nvSpPr>
          <p:cNvPr id="8" name="Text 5"/>
          <p:cNvSpPr txBox="1"/>
          <p:nvPr/>
        </p:nvSpPr>
        <p:spPr>
          <a:xfrm>
            <a:off x="868680" y="3337560"/>
            <a:ext cx="4297680" cy="365760"/>
          </a:xfrm>
          <a:prstGeom prst="rect">
            <a:avLst/>
          </a:prstGeom>
          <a:noFill/>
          <a:ln/>
        </p:spPr>
        <p:txBody>
          <a:bodyPr wrap="square" lIns="0" tIns="0" rIns="0" bIns="0" rtlCol="0" anchor="ctr"/>
          <a:lstStyle/>
          <a:p>
            <a:pPr indent="0" marL="0">
              <a:buNone/>
            </a:pPr>
            <a:r>
              <a:rPr lang="en-US" sz="1400" dirty="0">
                <a:solidFill>
                  <a:schemeClr val="accent4"/>
                </a:solidFill>
              </a:rPr>
              <a:t>median earnings, 10th–90th percentile of 880 schools</a:t>
            </a:r>
            <a:endParaRPr lang="en-US" sz="1400" dirty="0"/>
          </a:p>
        </p:txBody>
      </p:sp>
      <p:sp>
        <p:nvSpPr>
          <p:cNvPr id="9" name="Text 6"/>
          <p:cNvSpPr txBox="1"/>
          <p:nvPr/>
        </p:nvSpPr>
        <p:spPr>
          <a:xfrm>
            <a:off x="868680" y="4069080"/>
            <a:ext cx="4297680" cy="73152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$89K</a:t>
            </a:r>
            <a:endParaRPr lang="en-US" sz="4000" dirty="0"/>
          </a:p>
        </p:txBody>
      </p:sp>
      <p:sp>
        <p:nvSpPr>
          <p:cNvPr id="10" name="Text 7"/>
          <p:cNvSpPr txBox="1"/>
          <p:nvPr/>
        </p:nvSpPr>
        <p:spPr>
          <a:xfrm>
            <a:off x="868680" y="4800600"/>
            <a:ext cx="4297680" cy="365760"/>
          </a:xfrm>
          <a:prstGeom prst="rect">
            <a:avLst/>
          </a:prstGeom>
          <a:noFill/>
          <a:ln/>
        </p:spPr>
        <p:txBody>
          <a:bodyPr wrap="square" lIns="0" tIns="0" rIns="0" bIns="0" rtlCol="0" anchor="ctr"/>
          <a:lstStyle/>
          <a:p>
            <a:pPr indent="0" marL="0">
              <a:buNone/>
            </a:pPr>
            <a:r>
              <a:rPr lang="en-US" sz="1400" dirty="0">
                <a:solidFill>
                  <a:schemeClr val="accent4"/>
                </a:solidFill>
              </a:rPr>
              <a:t>national median for the same field and degree</a:t>
            </a:r>
            <a:endParaRPr lang="en-US" sz="1400" dirty="0"/>
          </a:p>
        </p:txBody>
      </p:sp>
      <p:sp>
        <p:nvSpPr>
          <p:cNvPr id="11" name="Text 8"/>
          <p:cNvSpPr txBox="1"/>
          <p:nvPr/>
        </p:nvSpPr>
        <p:spPr>
          <a:xfrm>
            <a:off x="5943600" y="1554480"/>
            <a:ext cx="5669280" cy="411480"/>
          </a:xfrm>
          <a:prstGeom prst="rect">
            <a:avLst/>
          </a:prstGeom>
          <a:noFill/>
          <a:ln/>
        </p:spPr>
        <p:txBody>
          <a:bodyPr wrap="square" lIns="0" tIns="0" rIns="0" bIns="0" rtlCol="0" anchor="ctr"/>
          <a:lstStyle/>
          <a:p>
            <a:pPr indent="0" marL="0">
              <a:buNone/>
            </a:pPr>
            <a:r>
              <a:rPr lang="en-US" sz="2000" b="1" dirty="0">
                <a:solidFill>
                  <a:schemeClr val="tx2"/>
                </a:solidFill>
              </a:rPr>
              <a:t>Our prediction task</a:t>
            </a:r>
            <a:endParaRPr lang="en-US" sz="2000" dirty="0"/>
          </a:p>
        </p:txBody>
      </p:sp>
      <p:sp>
        <p:nvSpPr>
          <p:cNvPr id="12" name="Text 9"/>
          <p:cNvSpPr txBox="1"/>
          <p:nvPr/>
        </p:nvSpPr>
        <p:spPr>
          <a:xfrm>
            <a:off x="5943600" y="2011680"/>
            <a:ext cx="5669280" cy="914400"/>
          </a:xfrm>
          <a:prstGeom prst="rect">
            <a:avLst/>
          </a:prstGeom>
          <a:noFill/>
          <a:ln/>
        </p:spPr>
        <p:txBody>
          <a:bodyPr wrap="square" lIns="0" tIns="0" rIns="0" bIns="0" rtlCol="0" anchor="ctr"/>
          <a:lstStyle/>
          <a:p>
            <a:pPr indent="0" marL="0">
              <a:buNone/>
            </a:pPr>
            <a:r>
              <a:rPr lang="en-US" sz="1800" i="1" dirty="0">
                <a:solidFill>
                  <a:schemeClr val="tx1"/>
                </a:solidFill>
              </a:rPr>
              <a:t>Will this program’s graduates earn more than the national median for their field and degree?</a:t>
            </a:r>
            <a:endParaRPr lang="en-US" sz="1800" dirty="0"/>
          </a:p>
        </p:txBody>
      </p:sp>
      <p:sp>
        <p:nvSpPr>
          <p:cNvPr id="13" name="badge 1"/>
          <p:cNvSpPr/>
          <p:nvPr/>
        </p:nvSpPr>
        <p:spPr>
          <a:xfrm>
            <a:off x="5943600" y="3154680"/>
            <a:ext cx="457200" cy="457200"/>
          </a:xfrm>
          <a:prstGeom prst="ellipse">
            <a:avLst/>
          </a:prstGeom>
          <a:solidFill>
            <a:schemeClr val="accent2"/>
          </a:solidFill>
          <a:ln w="12700">
            <a:solidFill>
              <a:schemeClr val="accent2"/>
            </a:solidFill>
            <a:prstDash val="solid"/>
          </a:ln>
        </p:spPr>
      </p:sp>
      <p:sp>
        <p:nvSpPr>
          <p:cNvPr id="14" name="Text 11"/>
          <p:cNvSpPr txBox="1"/>
          <p:nvPr/>
        </p:nvSpPr>
        <p:spPr>
          <a:xfrm>
            <a:off x="5943600" y="3154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Text 12"/>
          <p:cNvSpPr txBox="1"/>
          <p:nvPr/>
        </p:nvSpPr>
        <p:spPr>
          <a:xfrm>
            <a:off x="6583680" y="310896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Binary classification</a:t>
            </a:r>
            <a:endParaRPr lang="en-US" sz="1600" dirty="0"/>
          </a:p>
        </p:txBody>
      </p:sp>
      <p:sp>
        <p:nvSpPr>
          <p:cNvPr id="16" name="Text 13"/>
          <p:cNvSpPr txBox="1"/>
          <p:nvPr/>
        </p:nvSpPr>
        <p:spPr>
          <a:xfrm>
            <a:off x="6583680" y="3456432"/>
            <a:ext cx="5029200" cy="365760"/>
          </a:xfrm>
          <a:prstGeom prst="rect">
            <a:avLst/>
          </a:prstGeom>
          <a:noFill/>
          <a:ln/>
        </p:spPr>
        <p:txBody>
          <a:bodyPr wrap="square" lIns="0" tIns="0" rIns="0" bIns="0" rtlCol="0" anchor="ctr"/>
          <a:lstStyle/>
          <a:p>
            <a:pPr indent="0" marL="0">
              <a:buNone/>
            </a:pPr>
            <a:r>
              <a:rPr lang="en-US" sz="1400" dirty="0">
                <a:solidFill>
                  <a:schemeClr val="accent4"/>
                </a:solidFill>
              </a:rPr>
              <a:t>47.3% of programs are above, so the classes are balanced</a:t>
            </a:r>
            <a:endParaRPr lang="en-US" sz="1400" dirty="0"/>
          </a:p>
        </p:txBody>
      </p:sp>
      <p:sp>
        <p:nvSpPr>
          <p:cNvPr id="17" name="badge 2"/>
          <p:cNvSpPr/>
          <p:nvPr/>
        </p:nvSpPr>
        <p:spPr>
          <a:xfrm>
            <a:off x="5943600" y="4114800"/>
            <a:ext cx="457200" cy="457200"/>
          </a:xfrm>
          <a:prstGeom prst="ellipse">
            <a:avLst/>
          </a:prstGeom>
          <a:solidFill>
            <a:schemeClr val="accent2"/>
          </a:solidFill>
          <a:ln w="12700">
            <a:solidFill>
              <a:schemeClr val="accent2"/>
            </a:solidFill>
            <a:prstDash val="solid"/>
          </a:ln>
        </p:spPr>
      </p:sp>
      <p:sp>
        <p:nvSpPr>
          <p:cNvPr id="18" name="Text 15"/>
          <p:cNvSpPr txBox="1"/>
          <p:nvPr/>
        </p:nvSpPr>
        <p:spPr>
          <a:xfrm>
            <a:off x="594360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6"/>
          <p:cNvSpPr txBox="1"/>
          <p:nvPr/>
        </p:nvSpPr>
        <p:spPr>
          <a:xfrm>
            <a:off x="6583680" y="406908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Pre-enrollment inputs only</a:t>
            </a:r>
            <a:endParaRPr lang="en-US" sz="1600" dirty="0"/>
          </a:p>
        </p:txBody>
      </p:sp>
      <p:sp>
        <p:nvSpPr>
          <p:cNvPr id="20" name="Text 17"/>
          <p:cNvSpPr txBox="1"/>
          <p:nvPr/>
        </p:nvSpPr>
        <p:spPr>
          <a:xfrm>
            <a:off x="6583680" y="4416552"/>
            <a:ext cx="5029200" cy="365760"/>
          </a:xfrm>
          <a:prstGeom prst="rect">
            <a:avLst/>
          </a:prstGeom>
          <a:noFill/>
          <a:ln/>
        </p:spPr>
        <p:txBody>
          <a:bodyPr wrap="square" lIns="0" tIns="0" rIns="0" bIns="0" rtlCol="0" anchor="ctr"/>
          <a:lstStyle/>
          <a:p>
            <a:pPr indent="0" marL="0">
              <a:buNone/>
            </a:pPr>
            <a:r>
              <a:rPr lang="en-US" sz="1400" dirty="0">
                <a:solidFill>
                  <a:schemeClr val="accent4"/>
                </a:solidFill>
              </a:rPr>
              <a:t>School, cost, selectivity, debt, and occupation outlook</a:t>
            </a:r>
            <a:endParaRPr lang="en-US" sz="1400" dirty="0"/>
          </a:p>
        </p:txBody>
      </p:sp>
      <p:sp>
        <p:nvSpPr>
          <p:cNvPr id="21" name="badge 3"/>
          <p:cNvSpPr/>
          <p:nvPr/>
        </p:nvSpPr>
        <p:spPr>
          <a:xfrm>
            <a:off x="5943600" y="5074920"/>
            <a:ext cx="457200" cy="457200"/>
          </a:xfrm>
          <a:prstGeom prst="ellipse">
            <a:avLst/>
          </a:prstGeom>
          <a:solidFill>
            <a:schemeClr val="accent2"/>
          </a:solidFill>
          <a:ln w="12700">
            <a:solidFill>
              <a:schemeClr val="accent2"/>
            </a:solidFill>
            <a:prstDash val="solid"/>
          </a:ln>
        </p:spPr>
      </p:sp>
      <p:sp>
        <p:nvSpPr>
          <p:cNvPr id="22" name="Text 19"/>
          <p:cNvSpPr txBox="1"/>
          <p:nvPr/>
        </p:nvSpPr>
        <p:spPr>
          <a:xfrm>
            <a:off x="5943600" y="5074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0"/>
          <p:cNvSpPr txBox="1"/>
          <p:nvPr/>
        </p:nvSpPr>
        <p:spPr>
          <a:xfrm>
            <a:off x="6583680" y="5029200"/>
            <a:ext cx="5029200" cy="365760"/>
          </a:xfrm>
          <a:prstGeom prst="rect">
            <a:avLst/>
          </a:prstGeom>
          <a:noFill/>
          <a:ln/>
        </p:spPr>
        <p:txBody>
          <a:bodyPr wrap="square" lIns="0" tIns="0" rIns="0" bIns="0" rtlCol="0" anchor="ctr"/>
          <a:lstStyle/>
          <a:p>
            <a:pPr indent="0" marL="0">
              <a:buNone/>
            </a:pPr>
            <a:r>
              <a:rPr lang="en-US" sz="1600" b="1" dirty="0">
                <a:solidFill>
                  <a:schemeClr val="tx1"/>
                </a:solidFill>
              </a:rPr>
              <a:t>Who benefits</a:t>
            </a:r>
            <a:endParaRPr lang="en-US" sz="1600" dirty="0"/>
          </a:p>
        </p:txBody>
      </p:sp>
      <p:sp>
        <p:nvSpPr>
          <p:cNvPr id="24" name="Text 21"/>
          <p:cNvSpPr txBox="1"/>
          <p:nvPr/>
        </p:nvSpPr>
        <p:spPr>
          <a:xfrm>
            <a:off x="6583680" y="5376672"/>
            <a:ext cx="5029200" cy="365760"/>
          </a:xfrm>
          <a:prstGeom prst="rect">
            <a:avLst/>
          </a:prstGeom>
          <a:noFill/>
          <a:ln/>
        </p:spPr>
        <p:txBody>
          <a:bodyPr wrap="square" lIns="0" tIns="0" rIns="0" bIns="0" rtlCol="0" anchor="ctr"/>
          <a:lstStyle/>
          <a:p>
            <a:pPr indent="0" marL="0">
              <a:buNone/>
            </a:pPr>
            <a:r>
              <a:rPr lang="en-US" sz="1400" dirty="0">
                <a:solidFill>
                  <a:schemeClr val="accent4"/>
                </a:solidFill>
              </a:rPr>
              <a:t>Students, advisors, and policymakers comparing similar-looking options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1 · MOTIVATION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Reformulating the target removes the "major effect"</a:t>
            </a:r>
            <a:endParaRPr lang="en-US" sz="3200" dirty="0"/>
          </a:p>
        </p:txBody>
      </p:sp>
      <p:sp>
        <p:nvSpPr>
          <p:cNvPr id="5" name="Raw salary (rejected)"/>
          <p:cNvSpPr/>
          <p:nvPr/>
        </p:nvSpPr>
        <p:spPr>
          <a:xfrm>
            <a:off x="548640" y="1828800"/>
            <a:ext cx="4754880" cy="2651760"/>
          </a:xfrm>
          <a:prstGeom prst="roundRect">
            <a:avLst>
              <a:gd name="adj" fmla="val 2759"/>
            </a:avLst>
          </a:prstGeom>
          <a:solidFill>
            <a:schemeClr val="bg2"/>
          </a:solidFill>
          <a:ln w="12700">
            <a:solidFill>
              <a:schemeClr val="bg2"/>
            </a:solidFill>
            <a:prstDash val="solid"/>
          </a:ln>
        </p:spPr>
      </p:sp>
      <p:sp>
        <p:nvSpPr>
          <p:cNvPr id="6" name="Text 3"/>
          <p:cNvSpPr txBox="1"/>
          <p:nvPr/>
        </p:nvSpPr>
        <p:spPr>
          <a:xfrm>
            <a:off x="868680" y="2057400"/>
            <a:ext cx="4114800" cy="457200"/>
          </a:xfrm>
          <a:prstGeom prst="rect">
            <a:avLst/>
          </a:prstGeom>
          <a:noFill/>
          <a:ln/>
        </p:spPr>
        <p:txBody>
          <a:bodyPr wrap="square" lIns="0" tIns="0" rIns="0" bIns="0" rtlCol="0" anchor="ctr"/>
          <a:lstStyle/>
          <a:p>
            <a:pPr indent="0" marL="0">
              <a:buNone/>
            </a:pPr>
            <a:r>
              <a:rPr lang="en-US" sz="2000" b="1" dirty="0">
                <a:solidFill>
                  <a:schemeClr val="tx1"/>
                </a:solidFill>
              </a:rPr>
              <a:t>Raw salary (rejected)</a:t>
            </a:r>
            <a:endParaRPr lang="en-US" sz="2000" dirty="0"/>
          </a:p>
        </p:txBody>
      </p:sp>
      <p:sp>
        <p:nvSpPr>
          <p:cNvPr id="7" name="Text 4"/>
          <p:cNvSpPr txBox="1"/>
          <p:nvPr/>
        </p:nvSpPr>
        <p:spPr>
          <a:xfrm>
            <a:off x="868680" y="2651760"/>
            <a:ext cx="41148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Dominated by field: engineering &gt; education</a:t>
            </a:r>
            <a:endParaRPr lang="en-US" sz="1600" dirty="0"/>
          </a:p>
          <a:p>
            <a:pPr marL="342900" indent="-342900">
              <a:spcAft>
                <a:spcPts val="800"/>
              </a:spcAft>
              <a:buSzPct val="100000"/>
              <a:buChar char="•"/>
            </a:pPr>
            <a:r>
              <a:rPr lang="en-US" sz="1600" dirty="0">
                <a:solidFill>
                  <a:schemeClr val="tx1"/>
                </a:solidFill>
              </a:rPr>
              <a:t>Tells a student what they already know</a:t>
            </a:r>
            <a:endParaRPr lang="en-US" sz="1600" dirty="0"/>
          </a:p>
          <a:p>
            <a:pPr marL="342900" indent="-342900">
              <a:spcAft>
                <a:spcPts val="800"/>
              </a:spcAft>
              <a:buSzPct val="100000"/>
              <a:buChar char="•"/>
            </a:pPr>
            <a:r>
              <a:rPr lang="en-US" sz="1600" dirty="0">
                <a:solidFill>
                  <a:schemeClr val="tx1"/>
                </a:solidFill>
              </a:rPr>
              <a:t>Skewed, with a long right tail</a:t>
            </a:r>
            <a:endParaRPr lang="en-US" sz="1600" dirty="0"/>
          </a:p>
        </p:txBody>
      </p:sp>
      <p:sp>
        <p:nvSpPr>
          <p:cNvPr id="8" name="arrow"/>
          <p:cNvSpPr/>
          <p:nvPr/>
        </p:nvSpPr>
        <p:spPr>
          <a:xfrm>
            <a:off x="5577840" y="3063240"/>
            <a:ext cx="914400" cy="640080"/>
          </a:xfrm>
          <a:prstGeom prst="rightArrow">
            <a:avLst/>
          </a:prstGeom>
          <a:solidFill>
            <a:schemeClr val="accent2"/>
          </a:solidFill>
          <a:ln w="12700">
            <a:solidFill>
              <a:schemeClr val="accent2"/>
            </a:solidFill>
            <a:prstDash val="solid"/>
          </a:ln>
        </p:spPr>
      </p:sp>
      <p:sp>
        <p:nvSpPr>
          <p:cNvPr id="9" name="Salary vs. field median (chosen)"/>
          <p:cNvSpPr/>
          <p:nvPr/>
        </p:nvSpPr>
        <p:spPr>
          <a:xfrm>
            <a:off x="6812280" y="1828800"/>
            <a:ext cx="4754880" cy="2651760"/>
          </a:xfrm>
          <a:prstGeom prst="roundRect">
            <a:avLst>
              <a:gd name="adj" fmla="val 2759"/>
            </a:avLst>
          </a:prstGeom>
          <a:solidFill>
            <a:schemeClr val="tx2"/>
          </a:solidFill>
          <a:ln w="12700">
            <a:solidFill>
              <a:schemeClr val="tx2"/>
            </a:solidFill>
            <a:prstDash val="solid"/>
          </a:ln>
        </p:spPr>
      </p:sp>
      <p:sp>
        <p:nvSpPr>
          <p:cNvPr id="10" name="Text 7"/>
          <p:cNvSpPr txBox="1"/>
          <p:nvPr/>
        </p:nvSpPr>
        <p:spPr>
          <a:xfrm>
            <a:off x="7132320" y="2057400"/>
            <a:ext cx="4114800" cy="457200"/>
          </a:xfrm>
          <a:prstGeom prst="rect">
            <a:avLst/>
          </a:prstGeom>
          <a:noFill/>
          <a:ln/>
        </p:spPr>
        <p:txBody>
          <a:bodyPr wrap="square" lIns="0" tIns="0" rIns="0" bIns="0" rtlCol="0" anchor="ctr"/>
          <a:lstStyle/>
          <a:p>
            <a:pPr indent="0" marL="0">
              <a:buNone/>
            </a:pPr>
            <a:r>
              <a:rPr lang="en-US" sz="2000" b="1" dirty="0">
                <a:solidFill>
                  <a:schemeClr val="bg1"/>
                </a:solidFill>
              </a:rPr>
              <a:t>Salary vs. field median (chosen)</a:t>
            </a:r>
            <a:endParaRPr lang="en-US" sz="2000" dirty="0"/>
          </a:p>
        </p:txBody>
      </p:sp>
      <p:sp>
        <p:nvSpPr>
          <p:cNvPr id="11" name="Text 8"/>
          <p:cNvSpPr txBox="1"/>
          <p:nvPr/>
        </p:nvSpPr>
        <p:spPr>
          <a:xfrm>
            <a:off x="7132320" y="2651760"/>
            <a:ext cx="411480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Isolates the school effect within a field</a:t>
            </a:r>
            <a:endParaRPr lang="en-US" sz="1600" dirty="0"/>
          </a:p>
          <a:p>
            <a:pPr marL="342900" indent="-342900">
              <a:spcAft>
                <a:spcPts val="800"/>
              </a:spcAft>
              <a:buSzPct val="100000"/>
              <a:buChar char="•"/>
            </a:pPr>
            <a:r>
              <a:rPr lang="en-US" sz="1600" dirty="0">
                <a:solidFill>
                  <a:schemeClr val="bg1"/>
                </a:solidFill>
              </a:rPr>
              <a:t>Balanced: 47.3% positive</a:t>
            </a:r>
            <a:endParaRPr lang="en-US" sz="1600" dirty="0"/>
          </a:p>
          <a:p>
            <a:pPr marL="342900" indent="-342900">
              <a:spcAft>
                <a:spcPts val="800"/>
              </a:spcAft>
              <a:buSzPct val="100000"/>
              <a:buChar char="•"/>
            </a:pPr>
            <a:r>
              <a:rPr lang="en-US" sz="1600" dirty="0">
                <a:solidFill>
                  <a:schemeClr val="bg1"/>
                </a:solidFill>
              </a:rPr>
              <a:t>Directly actionable once a major is picked</a:t>
            </a:r>
            <a:endParaRPr lang="en-US" sz="1600" dirty="0"/>
          </a:p>
        </p:txBody>
      </p:sp>
      <p:sp>
        <p:nvSpPr>
          <p:cNvPr id="12" name="Text 9"/>
          <p:cNvSpPr txBox="1"/>
          <p:nvPr/>
        </p:nvSpPr>
        <p:spPr>
          <a:xfrm>
            <a:off x="548640" y="4846320"/>
            <a:ext cx="11094415" cy="457200"/>
          </a:xfrm>
          <a:prstGeom prst="rect">
            <a:avLst/>
          </a:prstGeom>
          <a:noFill/>
          <a:ln/>
        </p:spPr>
        <p:txBody>
          <a:bodyPr wrap="square" lIns="0" tIns="0" rIns="0" bIns="0" rtlCol="0" anchor="ctr"/>
          <a:lstStyle/>
          <a:p>
            <a:pPr indent="0" marL="0">
              <a:buNone/>
            </a:pPr>
            <a:r>
              <a:rPr lang="en-US" sz="1400" i="1" dirty="0">
                <a:solidFill>
                  <a:schemeClr val="accent4"/>
                </a:solidFill>
              </a:rPr>
              <a:t>Target = 1 if the program’s median earnings exceed the national median for the same field (CIP) and credential level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2 · DATA</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From 228K programs to a clean modeling set</a:t>
            </a:r>
            <a:endParaRPr lang="en-US" sz="3200" dirty="0"/>
          </a:p>
        </p:txBody>
      </p:sp>
      <p:sp>
        <p:nvSpPr>
          <p:cNvPr id="5" name="funnel 1"/>
          <p:cNvSpPr/>
          <p:nvPr/>
        </p:nvSpPr>
        <p:spPr>
          <a:xfrm>
            <a:off x="548640" y="1554480"/>
            <a:ext cx="6766560" cy="914400"/>
          </a:xfrm>
          <a:prstGeom prst="roundRect">
            <a:avLst>
              <a:gd name="adj" fmla="val 8000"/>
            </a:avLst>
          </a:prstGeom>
          <a:solidFill>
            <a:schemeClr val="tx2"/>
          </a:solidFill>
          <a:ln w="12700">
            <a:solidFill>
              <a:schemeClr val="tx2"/>
            </a:solidFill>
            <a:prstDash val="solid"/>
          </a:ln>
        </p:spPr>
      </p:sp>
      <p:sp>
        <p:nvSpPr>
          <p:cNvPr id="6" name="Text 3"/>
          <p:cNvSpPr txBox="1"/>
          <p:nvPr/>
        </p:nvSpPr>
        <p:spPr>
          <a:xfrm>
            <a:off x="777240" y="1554480"/>
            <a:ext cx="6400800" cy="566928"/>
          </a:xfrm>
          <a:prstGeom prst="rect">
            <a:avLst/>
          </a:prstGeom>
          <a:noFill/>
          <a:ln/>
        </p:spPr>
        <p:txBody>
          <a:bodyPr wrap="square" lIns="0" tIns="0" rIns="0" bIns="0" rtlCol="0" anchor="b"/>
          <a:lstStyle/>
          <a:p>
            <a:pPr indent="0" marL="0">
              <a:buNone/>
            </a:pPr>
            <a:r>
              <a:rPr lang="en-US" sz="2400" b="1" dirty="0">
                <a:solidFill>
                  <a:schemeClr val="bg1"/>
                </a:solidFill>
                <a:latin typeface="Cambria" pitchFamily="34" charset="0"/>
                <a:ea typeface="Cambria" pitchFamily="34" charset="-122"/>
                <a:cs typeface="Cambria" pitchFamily="34" charset="-120"/>
              </a:rPr>
              <a:t>227,980</a:t>
            </a:r>
            <a:pPr indent="0" marL="0">
              <a:buNone/>
            </a:pPr>
            <a:r>
              <a:rPr lang="en-US" sz="1500" dirty="0">
                <a:solidFill>
                  <a:schemeClr val="bg1"/>
                </a:solidFill>
              </a:rPr>
              <a:t>   programs in the raw file</a:t>
            </a:r>
            <a:endParaRPr lang="en-US" sz="2400" dirty="0"/>
          </a:p>
        </p:txBody>
      </p:sp>
      <p:sp>
        <p:nvSpPr>
          <p:cNvPr id="7" name="Text 4"/>
          <p:cNvSpPr txBox="1"/>
          <p:nvPr/>
        </p:nvSpPr>
        <p:spPr>
          <a:xfrm>
            <a:off x="777240" y="2103120"/>
            <a:ext cx="6400800" cy="292608"/>
          </a:xfrm>
          <a:prstGeom prst="rect">
            <a:avLst/>
          </a:prstGeom>
          <a:noFill/>
          <a:ln/>
        </p:spPr>
        <p:txBody>
          <a:bodyPr wrap="square" lIns="0" tIns="0" rIns="0" bIns="0" rtlCol="0" anchor="ctr"/>
          <a:lstStyle/>
          <a:p>
            <a:pPr indent="0" marL="0">
              <a:buNone/>
            </a:pPr>
            <a:r>
              <a:rPr lang="en-US" sz="1200" dirty="0">
                <a:solidFill>
                  <a:schemeClr val="accent5"/>
                </a:solidFill>
              </a:rPr>
              <a:t>72 columns</a:t>
            </a:r>
            <a:endParaRPr lang="en-US" sz="1200" dirty="0"/>
          </a:p>
        </p:txBody>
      </p:sp>
      <p:sp>
        <p:nvSpPr>
          <p:cNvPr id="8" name="funnel 2"/>
          <p:cNvSpPr/>
          <p:nvPr/>
        </p:nvSpPr>
        <p:spPr>
          <a:xfrm>
            <a:off x="548640" y="2670048"/>
            <a:ext cx="5943600" cy="914400"/>
          </a:xfrm>
          <a:prstGeom prst="roundRect">
            <a:avLst>
              <a:gd name="adj" fmla="val 8000"/>
            </a:avLst>
          </a:prstGeom>
          <a:solidFill>
            <a:schemeClr val="tx2"/>
          </a:solidFill>
          <a:ln w="12700">
            <a:solidFill>
              <a:schemeClr val="tx2"/>
            </a:solidFill>
            <a:prstDash val="solid"/>
          </a:ln>
        </p:spPr>
      </p:sp>
      <p:sp>
        <p:nvSpPr>
          <p:cNvPr id="9" name="Text 6"/>
          <p:cNvSpPr txBox="1"/>
          <p:nvPr/>
        </p:nvSpPr>
        <p:spPr>
          <a:xfrm>
            <a:off x="777240" y="2670048"/>
            <a:ext cx="5577840" cy="566928"/>
          </a:xfrm>
          <a:prstGeom prst="rect">
            <a:avLst/>
          </a:prstGeom>
          <a:noFill/>
          <a:ln/>
        </p:spPr>
        <p:txBody>
          <a:bodyPr wrap="square" lIns="0" tIns="0" rIns="0" bIns="0" rtlCol="0" anchor="b"/>
          <a:lstStyle/>
          <a:p>
            <a:pPr indent="0" marL="0">
              <a:buNone/>
            </a:pPr>
            <a:r>
              <a:rPr lang="en-US" sz="2400" b="1" dirty="0">
                <a:solidFill>
                  <a:schemeClr val="bg1"/>
                </a:solidFill>
                <a:latin typeface="Cambria" pitchFamily="34" charset="0"/>
                <a:ea typeface="Cambria" pitchFamily="34" charset="-122"/>
                <a:cs typeface="Cambria" pitchFamily="34" charset="-120"/>
              </a:rPr>
              <a:t>58,112</a:t>
            </a:r>
            <a:pPr indent="0" marL="0">
              <a:buNone/>
            </a:pPr>
            <a:r>
              <a:rPr lang="en-US" sz="1500" dirty="0">
                <a:solidFill>
                  <a:schemeClr val="bg1"/>
                </a:solidFill>
              </a:rPr>
              <a:t>   have 4-year earnings</a:t>
            </a:r>
            <a:endParaRPr lang="en-US" sz="2400" dirty="0"/>
          </a:p>
        </p:txBody>
      </p:sp>
      <p:sp>
        <p:nvSpPr>
          <p:cNvPr id="10" name="Text 7"/>
          <p:cNvSpPr txBox="1"/>
          <p:nvPr/>
        </p:nvSpPr>
        <p:spPr>
          <a:xfrm>
            <a:off x="777240" y="3218688"/>
            <a:ext cx="5577840" cy="292608"/>
          </a:xfrm>
          <a:prstGeom prst="rect">
            <a:avLst/>
          </a:prstGeom>
          <a:noFill/>
          <a:ln/>
        </p:spPr>
        <p:txBody>
          <a:bodyPr wrap="square" lIns="0" tIns="0" rIns="0" bIns="0" rtlCol="0" anchor="ctr"/>
          <a:lstStyle/>
          <a:p>
            <a:pPr indent="0" marL="0">
              <a:buNone/>
            </a:pPr>
            <a:r>
              <a:rPr lang="en-US" sz="1200" dirty="0">
                <a:solidFill>
                  <a:schemeClr val="accent5"/>
                </a:solidFill>
              </a:rPr>
              <a:t>74.5% privacy-suppressed</a:t>
            </a:r>
            <a:endParaRPr lang="en-US" sz="1200" dirty="0"/>
          </a:p>
        </p:txBody>
      </p:sp>
      <p:sp>
        <p:nvSpPr>
          <p:cNvPr id="11" name="funnel 3"/>
          <p:cNvSpPr/>
          <p:nvPr/>
        </p:nvSpPr>
        <p:spPr>
          <a:xfrm>
            <a:off x="548640" y="3785616"/>
            <a:ext cx="5120640" cy="914400"/>
          </a:xfrm>
          <a:prstGeom prst="roundRect">
            <a:avLst>
              <a:gd name="adj" fmla="val 8000"/>
            </a:avLst>
          </a:prstGeom>
          <a:solidFill>
            <a:schemeClr val="tx2"/>
          </a:solidFill>
          <a:ln w="12700">
            <a:solidFill>
              <a:schemeClr val="tx2"/>
            </a:solidFill>
            <a:prstDash val="solid"/>
          </a:ln>
        </p:spPr>
      </p:sp>
      <p:sp>
        <p:nvSpPr>
          <p:cNvPr id="12" name="Text 9"/>
          <p:cNvSpPr txBox="1"/>
          <p:nvPr/>
        </p:nvSpPr>
        <p:spPr>
          <a:xfrm>
            <a:off x="777240" y="3785616"/>
            <a:ext cx="4754880" cy="566928"/>
          </a:xfrm>
          <a:prstGeom prst="rect">
            <a:avLst/>
          </a:prstGeom>
          <a:noFill/>
          <a:ln/>
        </p:spPr>
        <p:txBody>
          <a:bodyPr wrap="square" lIns="0" tIns="0" rIns="0" bIns="0" rtlCol="0" anchor="b"/>
          <a:lstStyle/>
          <a:p>
            <a:pPr indent="0" marL="0">
              <a:buNone/>
            </a:pPr>
            <a:r>
              <a:rPr lang="en-US" sz="2400" b="1" dirty="0">
                <a:solidFill>
                  <a:schemeClr val="bg1"/>
                </a:solidFill>
                <a:latin typeface="Cambria" pitchFamily="34" charset="0"/>
                <a:ea typeface="Cambria" pitchFamily="34" charset="-122"/>
                <a:cs typeface="Cambria" pitchFamily="34" charset="-120"/>
              </a:rPr>
              <a:t>51,867</a:t>
            </a:r>
            <a:pPr indent="0" marL="0">
              <a:buNone/>
            </a:pPr>
            <a:r>
              <a:rPr lang="en-US" sz="1500" dirty="0">
                <a:solidFill>
                  <a:schemeClr val="bg1"/>
                </a:solidFill>
              </a:rPr>
              <a:t>   after de-duplication</a:t>
            </a:r>
            <a:endParaRPr lang="en-US" sz="2400" dirty="0"/>
          </a:p>
        </p:txBody>
      </p:sp>
      <p:sp>
        <p:nvSpPr>
          <p:cNvPr id="13" name="Text 10"/>
          <p:cNvSpPr txBox="1"/>
          <p:nvPr/>
        </p:nvSpPr>
        <p:spPr>
          <a:xfrm>
            <a:off x="777240" y="4334256"/>
            <a:ext cx="4754880" cy="292608"/>
          </a:xfrm>
          <a:prstGeom prst="rect">
            <a:avLst/>
          </a:prstGeom>
          <a:noFill/>
          <a:ln/>
        </p:spPr>
        <p:txBody>
          <a:bodyPr wrap="square" lIns="0" tIns="0" rIns="0" bIns="0" rtlCol="0" anchor="ctr"/>
          <a:lstStyle/>
          <a:p>
            <a:pPr indent="0" marL="0">
              <a:buNone/>
            </a:pPr>
            <a:r>
              <a:rPr lang="en-US" sz="1200" dirty="0">
                <a:solidFill>
                  <a:schemeClr val="accent5"/>
                </a:solidFill>
              </a:rPr>
              <a:t>6,245 duplicate campus rows</a:t>
            </a:r>
            <a:endParaRPr lang="en-US" sz="1200" dirty="0"/>
          </a:p>
        </p:txBody>
      </p:sp>
      <p:sp>
        <p:nvSpPr>
          <p:cNvPr id="14" name="funnel 4"/>
          <p:cNvSpPr/>
          <p:nvPr/>
        </p:nvSpPr>
        <p:spPr>
          <a:xfrm>
            <a:off x="548640" y="4901184"/>
            <a:ext cx="4297680" cy="914400"/>
          </a:xfrm>
          <a:prstGeom prst="roundRect">
            <a:avLst>
              <a:gd name="adj" fmla="val 8000"/>
            </a:avLst>
          </a:prstGeom>
          <a:solidFill>
            <a:schemeClr val="accent2"/>
          </a:solidFill>
          <a:ln w="12700">
            <a:solidFill>
              <a:schemeClr val="accent2"/>
            </a:solidFill>
            <a:prstDash val="solid"/>
          </a:ln>
        </p:spPr>
      </p:sp>
      <p:sp>
        <p:nvSpPr>
          <p:cNvPr id="15" name="Text 12"/>
          <p:cNvSpPr txBox="1"/>
          <p:nvPr/>
        </p:nvSpPr>
        <p:spPr>
          <a:xfrm>
            <a:off x="777240" y="4901184"/>
            <a:ext cx="3931920" cy="566928"/>
          </a:xfrm>
          <a:prstGeom prst="rect">
            <a:avLst/>
          </a:prstGeom>
          <a:noFill/>
          <a:ln/>
        </p:spPr>
        <p:txBody>
          <a:bodyPr wrap="square" lIns="0" tIns="0" rIns="0" bIns="0" rtlCol="0" anchor="b"/>
          <a:lstStyle/>
          <a:p>
            <a:pPr indent="0" marL="0">
              <a:buNone/>
            </a:pPr>
            <a:r>
              <a:rPr lang="en-US" sz="2400" b="1" dirty="0">
                <a:solidFill>
                  <a:schemeClr val="bg1"/>
                </a:solidFill>
                <a:latin typeface="Cambria" pitchFamily="34" charset="0"/>
                <a:ea typeface="Cambria" pitchFamily="34" charset="-122"/>
                <a:cs typeface="Cambria" pitchFamily="34" charset="-120"/>
              </a:rPr>
              <a:t>40,986 / 10,881</a:t>
            </a:r>
            <a:pPr indent="0" marL="0">
              <a:buNone/>
            </a:pPr>
            <a:r>
              <a:rPr lang="en-US" sz="1500" dirty="0">
                <a:solidFill>
                  <a:schemeClr val="bg1"/>
                </a:solidFill>
              </a:rPr>
              <a:t>   train / test, split by school</a:t>
            </a:r>
            <a:endParaRPr lang="en-US" sz="2400" dirty="0"/>
          </a:p>
        </p:txBody>
      </p:sp>
      <p:sp>
        <p:nvSpPr>
          <p:cNvPr id="16" name="Text 13"/>
          <p:cNvSpPr txBox="1"/>
          <p:nvPr/>
        </p:nvSpPr>
        <p:spPr>
          <a:xfrm>
            <a:off x="777240" y="5449824"/>
            <a:ext cx="3931920" cy="292608"/>
          </a:xfrm>
          <a:prstGeom prst="rect">
            <a:avLst/>
          </a:prstGeom>
          <a:noFill/>
          <a:ln/>
        </p:spPr>
        <p:txBody>
          <a:bodyPr wrap="square" lIns="0" tIns="0" rIns="0" bIns="0" rtlCol="0" anchor="ctr"/>
          <a:lstStyle/>
          <a:p>
            <a:pPr indent="0" marL="0">
              <a:buNone/>
            </a:pPr>
            <a:r>
              <a:rPr lang="en-US" sz="1200" dirty="0">
                <a:solidFill>
                  <a:schemeClr val="accent5"/>
                </a:solidFill>
              </a:rPr>
              <a:t>no school in both sets</a:t>
            </a:r>
            <a:endParaRPr lang="en-US" sz="1200" dirty="0"/>
          </a:p>
        </p:txBody>
      </p:sp>
      <p:sp>
        <p:nvSpPr>
          <p:cNvPr id="17" name="Text 14"/>
          <p:cNvSpPr txBox="1"/>
          <p:nvPr/>
        </p:nvSpPr>
        <p:spPr>
          <a:xfrm>
            <a:off x="7772400" y="1554480"/>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Sources merged by program</a:t>
            </a:r>
            <a:endParaRPr lang="en-US" sz="1800" dirty="0"/>
          </a:p>
        </p:txBody>
      </p:sp>
      <p:sp>
        <p:nvSpPr>
          <p:cNvPr id="18" name="source College Scorecard"/>
          <p:cNvSpPr/>
          <p:nvPr/>
        </p:nvSpPr>
        <p:spPr>
          <a:xfrm>
            <a:off x="7772400" y="2103120"/>
            <a:ext cx="3867912" cy="1097280"/>
          </a:xfrm>
          <a:prstGeom prst="roundRect">
            <a:avLst>
              <a:gd name="adj" fmla="val 6667"/>
            </a:avLst>
          </a:prstGeom>
          <a:solidFill>
            <a:schemeClr val="bg2"/>
          </a:solidFill>
          <a:ln w="12700">
            <a:solidFill>
              <a:schemeClr val="bg2"/>
            </a:solidFill>
            <a:prstDash val="solid"/>
          </a:ln>
        </p:spPr>
      </p:sp>
      <p:sp>
        <p:nvSpPr>
          <p:cNvPr id="19" name="Text 16"/>
          <p:cNvSpPr txBox="1"/>
          <p:nvPr/>
        </p:nvSpPr>
        <p:spPr>
          <a:xfrm>
            <a:off x="8001000" y="2240280"/>
            <a:ext cx="3474720" cy="365760"/>
          </a:xfrm>
          <a:prstGeom prst="rect">
            <a:avLst/>
          </a:prstGeom>
          <a:noFill/>
          <a:ln/>
        </p:spPr>
        <p:txBody>
          <a:bodyPr wrap="square" lIns="0" tIns="0" rIns="0" bIns="0" rtlCol="0" anchor="ctr"/>
          <a:lstStyle/>
          <a:p>
            <a:pPr indent="0" marL="0">
              <a:buNone/>
            </a:pPr>
            <a:r>
              <a:rPr lang="en-US" sz="1600" b="1" dirty="0">
                <a:solidFill>
                  <a:schemeClr val="accent1"/>
                </a:solidFill>
              </a:rPr>
              <a:t>College Scorecard</a:t>
            </a:r>
            <a:endParaRPr lang="en-US" sz="1600" dirty="0"/>
          </a:p>
        </p:txBody>
      </p:sp>
      <p:sp>
        <p:nvSpPr>
          <p:cNvPr id="20" name="Text 17"/>
          <p:cNvSpPr txBox="1"/>
          <p:nvPr/>
        </p:nvSpPr>
        <p:spPr>
          <a:xfrm>
            <a:off x="8001000" y="2606040"/>
            <a:ext cx="3474720" cy="502920"/>
          </a:xfrm>
          <a:prstGeom prst="rect">
            <a:avLst/>
          </a:prstGeom>
          <a:noFill/>
          <a:ln/>
        </p:spPr>
        <p:txBody>
          <a:bodyPr wrap="square" lIns="0" tIns="0" rIns="0" bIns="0" rtlCol="0" anchor="ctr"/>
          <a:lstStyle/>
          <a:p>
            <a:pPr indent="0" marL="0">
              <a:buNone/>
            </a:pPr>
            <a:r>
              <a:rPr lang="en-US" sz="1300" dirty="0">
                <a:solidFill>
                  <a:schemeClr val="tx1"/>
                </a:solidFill>
              </a:rPr>
              <a:t>Program earnings and debt by field of study</a:t>
            </a:r>
            <a:endParaRPr lang="en-US" sz="1300" dirty="0"/>
          </a:p>
        </p:txBody>
      </p:sp>
      <p:sp>
        <p:nvSpPr>
          <p:cNvPr id="21" name="source IPEDS"/>
          <p:cNvSpPr/>
          <p:nvPr/>
        </p:nvSpPr>
        <p:spPr>
          <a:xfrm>
            <a:off x="7772400" y="3383280"/>
            <a:ext cx="3867912" cy="1097280"/>
          </a:xfrm>
          <a:prstGeom prst="roundRect">
            <a:avLst>
              <a:gd name="adj" fmla="val 6667"/>
            </a:avLst>
          </a:prstGeom>
          <a:solidFill>
            <a:schemeClr val="bg2"/>
          </a:solidFill>
          <a:ln w="12700">
            <a:solidFill>
              <a:schemeClr val="bg2"/>
            </a:solidFill>
            <a:prstDash val="solid"/>
          </a:ln>
        </p:spPr>
      </p:sp>
      <p:sp>
        <p:nvSpPr>
          <p:cNvPr id="22" name="Text 19"/>
          <p:cNvSpPr txBox="1"/>
          <p:nvPr/>
        </p:nvSpPr>
        <p:spPr>
          <a:xfrm>
            <a:off x="8001000" y="3520440"/>
            <a:ext cx="3474720" cy="365760"/>
          </a:xfrm>
          <a:prstGeom prst="rect">
            <a:avLst/>
          </a:prstGeom>
          <a:noFill/>
          <a:ln/>
        </p:spPr>
        <p:txBody>
          <a:bodyPr wrap="square" lIns="0" tIns="0" rIns="0" bIns="0" rtlCol="0" anchor="ctr"/>
          <a:lstStyle/>
          <a:p>
            <a:pPr indent="0" marL="0">
              <a:buNone/>
            </a:pPr>
            <a:r>
              <a:rPr lang="en-US" sz="1600" b="1" dirty="0">
                <a:solidFill>
                  <a:schemeClr val="accent1"/>
                </a:solidFill>
              </a:rPr>
              <a:t>IPEDS</a:t>
            </a:r>
            <a:endParaRPr lang="en-US" sz="1600" dirty="0"/>
          </a:p>
        </p:txBody>
      </p:sp>
      <p:sp>
        <p:nvSpPr>
          <p:cNvPr id="23" name="Text 20"/>
          <p:cNvSpPr txBox="1"/>
          <p:nvPr/>
        </p:nvSpPr>
        <p:spPr>
          <a:xfrm>
            <a:off x="8001000" y="3886200"/>
            <a:ext cx="3474720" cy="502920"/>
          </a:xfrm>
          <a:prstGeom prst="rect">
            <a:avLst/>
          </a:prstGeom>
          <a:noFill/>
          <a:ln/>
        </p:spPr>
        <p:txBody>
          <a:bodyPr wrap="square" lIns="0" tIns="0" rIns="0" bIns="0" rtlCol="0" anchor="ctr"/>
          <a:lstStyle/>
          <a:p>
            <a:pPr indent="0" marL="0">
              <a:buNone/>
            </a:pPr>
            <a:r>
              <a:rPr lang="en-US" sz="1300" dirty="0">
                <a:solidFill>
                  <a:schemeClr val="tx1"/>
                </a:solidFill>
              </a:rPr>
              <a:t>Control, region, admission rate, SAT, tuition, enrollment</a:t>
            </a:r>
            <a:endParaRPr lang="en-US" sz="1300" dirty="0"/>
          </a:p>
        </p:txBody>
      </p:sp>
      <p:sp>
        <p:nvSpPr>
          <p:cNvPr id="24" name="source BLS / O*NET"/>
          <p:cNvSpPr/>
          <p:nvPr/>
        </p:nvSpPr>
        <p:spPr>
          <a:xfrm>
            <a:off x="7772400" y="4663440"/>
            <a:ext cx="3867912" cy="1097280"/>
          </a:xfrm>
          <a:prstGeom prst="roundRect">
            <a:avLst>
              <a:gd name="adj" fmla="val 6667"/>
            </a:avLst>
          </a:prstGeom>
          <a:solidFill>
            <a:schemeClr val="bg2"/>
          </a:solidFill>
          <a:ln w="12700">
            <a:solidFill>
              <a:schemeClr val="bg2"/>
            </a:solidFill>
            <a:prstDash val="solid"/>
          </a:ln>
        </p:spPr>
      </p:sp>
      <p:sp>
        <p:nvSpPr>
          <p:cNvPr id="25" name="Text 22"/>
          <p:cNvSpPr txBox="1"/>
          <p:nvPr/>
        </p:nvSpPr>
        <p:spPr>
          <a:xfrm>
            <a:off x="8001000" y="4800600"/>
            <a:ext cx="3474720" cy="365760"/>
          </a:xfrm>
          <a:prstGeom prst="rect">
            <a:avLst/>
          </a:prstGeom>
          <a:noFill/>
          <a:ln/>
        </p:spPr>
        <p:txBody>
          <a:bodyPr wrap="square" lIns="0" tIns="0" rIns="0" bIns="0" rtlCol="0" anchor="ctr"/>
          <a:lstStyle/>
          <a:p>
            <a:pPr indent="0" marL="0">
              <a:buNone/>
            </a:pPr>
            <a:r>
              <a:rPr lang="en-US" sz="1600" b="1" dirty="0">
                <a:solidFill>
                  <a:schemeClr val="accent1"/>
                </a:solidFill>
              </a:rPr>
              <a:t>BLS / O*NET</a:t>
            </a:r>
            <a:endParaRPr lang="en-US" sz="1600" dirty="0"/>
          </a:p>
        </p:txBody>
      </p:sp>
      <p:sp>
        <p:nvSpPr>
          <p:cNvPr id="26" name="Text 23"/>
          <p:cNvSpPr txBox="1"/>
          <p:nvPr/>
        </p:nvSpPr>
        <p:spPr>
          <a:xfrm>
            <a:off x="8001000" y="5166360"/>
            <a:ext cx="3474720" cy="502920"/>
          </a:xfrm>
          <a:prstGeom prst="rect">
            <a:avLst/>
          </a:prstGeom>
          <a:noFill/>
          <a:ln/>
        </p:spPr>
        <p:txBody>
          <a:bodyPr wrap="square" lIns="0" tIns="0" rIns="0" bIns="0" rtlCol="0" anchor="ctr"/>
          <a:lstStyle/>
          <a:p>
            <a:pPr indent="0" marL="0">
              <a:buNone/>
            </a:pPr>
            <a:r>
              <a:rPr lang="en-US" sz="1300" dirty="0">
                <a:solidFill>
                  <a:schemeClr val="tx1"/>
                </a:solidFill>
              </a:rPr>
              <a:t>Linked occupations: jobs, growth, wages, AI tools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2 · DATA</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Preparation: no leakage, clean inputs, honest split</a:t>
            </a:r>
            <a:endParaRPr lang="en-US" sz="3200" dirty="0"/>
          </a:p>
        </p:txBody>
      </p:sp>
      <p:sp>
        <p:nvSpPr>
          <p:cNvPr id="5" name="prep Leakage control"/>
          <p:cNvSpPr/>
          <p:nvPr/>
        </p:nvSpPr>
        <p:spPr>
          <a:xfrm>
            <a:off x="548640" y="1554480"/>
            <a:ext cx="3515258" cy="2148840"/>
          </a:xfrm>
          <a:prstGeom prst="roundRect">
            <a:avLst>
              <a:gd name="adj" fmla="val 3404"/>
            </a:avLst>
          </a:prstGeom>
          <a:solidFill>
            <a:schemeClr val="bg2"/>
          </a:solidFill>
          <a:ln w="12700">
            <a:solidFill>
              <a:schemeClr val="bg2"/>
            </a:solidFill>
            <a:prstDash val="solid"/>
          </a:ln>
        </p:spPr>
      </p:sp>
      <p:sp>
        <p:nvSpPr>
          <p:cNvPr id="6" name="badge 1"/>
          <p:cNvSpPr/>
          <p:nvPr/>
        </p:nvSpPr>
        <p:spPr>
          <a:xfrm>
            <a:off x="777240" y="1783080"/>
            <a:ext cx="411480" cy="411480"/>
          </a:xfrm>
          <a:prstGeom prst="ellipse">
            <a:avLst/>
          </a:prstGeom>
          <a:solidFill>
            <a:schemeClr val="accent2"/>
          </a:solidFill>
          <a:ln w="12700">
            <a:solidFill>
              <a:schemeClr val="accent2"/>
            </a:solidFill>
            <a:prstDash val="solid"/>
          </a:ln>
        </p:spPr>
      </p:sp>
      <p:sp>
        <p:nvSpPr>
          <p:cNvPr id="7" name="Text 4"/>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1325880" y="178308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Leakage control</a:t>
            </a:r>
            <a:endParaRPr lang="en-US" sz="1700" dirty="0"/>
          </a:p>
        </p:txBody>
      </p:sp>
      <p:sp>
        <p:nvSpPr>
          <p:cNvPr id="9" name="Text 6"/>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400" dirty="0">
                <a:solidFill>
                  <a:schemeClr val="tx1"/>
                </a:solidFill>
              </a:rPr>
              <a:t>Dropped all post-graduation and earnings-derived columns (1-yr/5-yr earnings, debt-to-earnings, employment rates)</a:t>
            </a:r>
            <a:endParaRPr lang="en-US" sz="1400" dirty="0"/>
          </a:p>
        </p:txBody>
      </p:sp>
      <p:sp>
        <p:nvSpPr>
          <p:cNvPr id="10" name="prep Duplicates"/>
          <p:cNvSpPr/>
          <p:nvPr/>
        </p:nvSpPr>
        <p:spPr>
          <a:xfrm>
            <a:off x="4338218" y="1554480"/>
            <a:ext cx="3515258" cy="2148840"/>
          </a:xfrm>
          <a:prstGeom prst="roundRect">
            <a:avLst>
              <a:gd name="adj" fmla="val 3404"/>
            </a:avLst>
          </a:prstGeom>
          <a:solidFill>
            <a:schemeClr val="bg2"/>
          </a:solidFill>
          <a:ln w="12700">
            <a:solidFill>
              <a:schemeClr val="bg2"/>
            </a:solidFill>
            <a:prstDash val="solid"/>
          </a:ln>
        </p:spPr>
      </p:sp>
      <p:sp>
        <p:nvSpPr>
          <p:cNvPr id="11" name="badge 2"/>
          <p:cNvSpPr/>
          <p:nvPr/>
        </p:nvSpPr>
        <p:spPr>
          <a:xfrm>
            <a:off x="4566818" y="1783080"/>
            <a:ext cx="411480" cy="411480"/>
          </a:xfrm>
          <a:prstGeom prst="ellipse">
            <a:avLst/>
          </a:prstGeom>
          <a:solidFill>
            <a:schemeClr val="accent2"/>
          </a:solidFill>
          <a:ln w="12700">
            <a:solidFill>
              <a:schemeClr val="accent2"/>
            </a:solidFill>
            <a:prstDash val="solid"/>
          </a:ln>
        </p:spPr>
      </p:sp>
      <p:sp>
        <p:nvSpPr>
          <p:cNvPr id="12" name="Text 9"/>
          <p:cNvSpPr txBox="1"/>
          <p:nvPr/>
        </p:nvSpPr>
        <p:spPr>
          <a:xfrm>
            <a:off x="4566818" y="17830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5115458" y="178308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Duplicates</a:t>
            </a:r>
            <a:endParaRPr lang="en-US" sz="1700" dirty="0"/>
          </a:p>
        </p:txBody>
      </p:sp>
      <p:sp>
        <p:nvSpPr>
          <p:cNvPr id="14" name="Text 11"/>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400" dirty="0">
                <a:solidFill>
                  <a:schemeClr val="tx1"/>
                </a:solidFill>
              </a:rPr>
              <a:t>Removed 6,245 repeated campus rows with identical shared outcomes; kept the main campus</a:t>
            </a:r>
            <a:endParaRPr lang="en-US" sz="1400" dirty="0"/>
          </a:p>
        </p:txBody>
      </p:sp>
      <p:sp>
        <p:nvSpPr>
          <p:cNvPr id="15" name="prep Skewed data"/>
          <p:cNvSpPr/>
          <p:nvPr/>
        </p:nvSpPr>
        <p:spPr>
          <a:xfrm>
            <a:off x="8127797" y="1554480"/>
            <a:ext cx="3515258" cy="2148840"/>
          </a:xfrm>
          <a:prstGeom prst="roundRect">
            <a:avLst>
              <a:gd name="adj" fmla="val 3404"/>
            </a:avLst>
          </a:prstGeom>
          <a:solidFill>
            <a:schemeClr val="bg2"/>
          </a:solidFill>
          <a:ln w="12700">
            <a:solidFill>
              <a:schemeClr val="bg2"/>
            </a:solidFill>
            <a:prstDash val="solid"/>
          </a:ln>
        </p:spPr>
      </p:sp>
      <p:sp>
        <p:nvSpPr>
          <p:cNvPr id="16" name="badge 3"/>
          <p:cNvSpPr/>
          <p:nvPr/>
        </p:nvSpPr>
        <p:spPr>
          <a:xfrm>
            <a:off x="8356397" y="1783080"/>
            <a:ext cx="411480" cy="411480"/>
          </a:xfrm>
          <a:prstGeom prst="ellipse">
            <a:avLst/>
          </a:prstGeom>
          <a:solidFill>
            <a:schemeClr val="accent2"/>
          </a:solidFill>
          <a:ln w="12700">
            <a:solidFill>
              <a:schemeClr val="accent2"/>
            </a:solidFill>
            <a:prstDash val="solid"/>
          </a:ln>
        </p:spPr>
      </p:sp>
      <p:sp>
        <p:nvSpPr>
          <p:cNvPr id="17" name="Text 14"/>
          <p:cNvSpPr txBox="1"/>
          <p:nvPr/>
        </p:nvSpPr>
        <p:spPr>
          <a:xfrm>
            <a:off x="8356397" y="17830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5"/>
          <p:cNvSpPr txBox="1"/>
          <p:nvPr/>
        </p:nvSpPr>
        <p:spPr>
          <a:xfrm>
            <a:off x="8905037" y="178308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Skewed data</a:t>
            </a:r>
            <a:endParaRPr lang="en-US" sz="1700" dirty="0"/>
          </a:p>
        </p:txBody>
      </p:sp>
      <p:sp>
        <p:nvSpPr>
          <p:cNvPr id="19" name="Text 16"/>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400" dirty="0">
                <a:solidFill>
                  <a:schemeClr val="tx1"/>
                </a:solidFill>
              </a:rPr>
              <a:t>log(1+x) for enrollment, completions, debt, occupation employment and openings</a:t>
            </a:r>
            <a:endParaRPr lang="en-US" sz="1400" dirty="0"/>
          </a:p>
        </p:txBody>
      </p:sp>
      <p:sp>
        <p:nvSpPr>
          <p:cNvPr id="20" name="prep Outliers"/>
          <p:cNvSpPr/>
          <p:nvPr/>
        </p:nvSpPr>
        <p:spPr>
          <a:xfrm>
            <a:off x="548640" y="3977640"/>
            <a:ext cx="3515258" cy="2148840"/>
          </a:xfrm>
          <a:prstGeom prst="roundRect">
            <a:avLst>
              <a:gd name="adj" fmla="val 3404"/>
            </a:avLst>
          </a:prstGeom>
          <a:solidFill>
            <a:schemeClr val="bg2"/>
          </a:solidFill>
          <a:ln w="12700">
            <a:solidFill>
              <a:schemeClr val="bg2"/>
            </a:solidFill>
            <a:prstDash val="solid"/>
          </a:ln>
        </p:spPr>
      </p:sp>
      <p:sp>
        <p:nvSpPr>
          <p:cNvPr id="21" name="badge 4"/>
          <p:cNvSpPr/>
          <p:nvPr/>
        </p:nvSpPr>
        <p:spPr>
          <a:xfrm>
            <a:off x="777240" y="4206240"/>
            <a:ext cx="411480" cy="411480"/>
          </a:xfrm>
          <a:prstGeom prst="ellipse">
            <a:avLst/>
          </a:prstGeom>
          <a:solidFill>
            <a:schemeClr val="accent2"/>
          </a:solidFill>
          <a:ln w="12700">
            <a:solidFill>
              <a:schemeClr val="accent2"/>
            </a:solidFill>
            <a:prstDash val="solid"/>
          </a:ln>
        </p:spPr>
      </p:sp>
      <p:sp>
        <p:nvSpPr>
          <p:cNvPr id="22" name="Text 19"/>
          <p:cNvSpPr txBox="1"/>
          <p:nvPr/>
        </p:nvSpPr>
        <p:spPr>
          <a:xfrm>
            <a:off x="777240" y="42062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3" name="Text 20"/>
          <p:cNvSpPr txBox="1"/>
          <p:nvPr/>
        </p:nvSpPr>
        <p:spPr>
          <a:xfrm>
            <a:off x="1325880" y="420624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Outliers</a:t>
            </a:r>
            <a:endParaRPr lang="en-US" sz="1700" dirty="0"/>
          </a:p>
        </p:txBody>
      </p:sp>
      <p:sp>
        <p:nvSpPr>
          <p:cNvPr id="24" name="Text 21"/>
          <p:cNvSpPr txBox="1"/>
          <p:nvPr/>
        </p:nvSpPr>
        <p:spPr>
          <a:xfrm>
            <a:off x="777240" y="4800600"/>
            <a:ext cx="3058058" cy="1188720"/>
          </a:xfrm>
          <a:prstGeom prst="rect">
            <a:avLst/>
          </a:prstGeom>
          <a:noFill/>
          <a:ln/>
        </p:spPr>
        <p:txBody>
          <a:bodyPr wrap="square" lIns="0" tIns="0" rIns="0" bIns="0" rtlCol="0" anchor="t"/>
          <a:lstStyle/>
          <a:p>
            <a:pPr indent="0" marL="0">
              <a:buNone/>
            </a:pPr>
            <a:r>
              <a:rPr lang="en-US" sz="1400" dirty="0">
                <a:solidFill>
                  <a:schemeClr val="tx1"/>
                </a:solidFill>
              </a:rPr>
              <a:t>Winsorized tuition, growth and wage at the 1st/99th percentile, caps learned on training data only</a:t>
            </a:r>
            <a:endParaRPr lang="en-US" sz="1400" dirty="0"/>
          </a:p>
        </p:txBody>
      </p:sp>
      <p:sp>
        <p:nvSpPr>
          <p:cNvPr id="25" name="prep Missing values"/>
          <p:cNvSpPr/>
          <p:nvPr/>
        </p:nvSpPr>
        <p:spPr>
          <a:xfrm>
            <a:off x="4338218" y="3977640"/>
            <a:ext cx="3515258" cy="2148840"/>
          </a:xfrm>
          <a:prstGeom prst="roundRect">
            <a:avLst>
              <a:gd name="adj" fmla="val 3404"/>
            </a:avLst>
          </a:prstGeom>
          <a:solidFill>
            <a:schemeClr val="bg2"/>
          </a:solidFill>
          <a:ln w="12700">
            <a:solidFill>
              <a:schemeClr val="bg2"/>
            </a:solidFill>
            <a:prstDash val="solid"/>
          </a:ln>
        </p:spPr>
      </p:sp>
      <p:sp>
        <p:nvSpPr>
          <p:cNvPr id="26" name="badge 5"/>
          <p:cNvSpPr/>
          <p:nvPr/>
        </p:nvSpPr>
        <p:spPr>
          <a:xfrm>
            <a:off x="4566818" y="4206240"/>
            <a:ext cx="411480" cy="411480"/>
          </a:xfrm>
          <a:prstGeom prst="ellipse">
            <a:avLst/>
          </a:prstGeom>
          <a:solidFill>
            <a:schemeClr val="accent2"/>
          </a:solidFill>
          <a:ln w="12700">
            <a:solidFill>
              <a:schemeClr val="accent2"/>
            </a:solidFill>
            <a:prstDash val="solid"/>
          </a:ln>
        </p:spPr>
      </p:sp>
      <p:sp>
        <p:nvSpPr>
          <p:cNvPr id="27" name="Text 24"/>
          <p:cNvSpPr txBox="1"/>
          <p:nvPr/>
        </p:nvSpPr>
        <p:spPr>
          <a:xfrm>
            <a:off x="4566818" y="42062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8" name="Text 25"/>
          <p:cNvSpPr txBox="1"/>
          <p:nvPr/>
        </p:nvSpPr>
        <p:spPr>
          <a:xfrm>
            <a:off x="5115458" y="420624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Missing values</a:t>
            </a:r>
            <a:endParaRPr lang="en-US" sz="1700" dirty="0"/>
          </a:p>
        </p:txBody>
      </p:sp>
      <p:sp>
        <p:nvSpPr>
          <p:cNvPr id="29" name="Text 26"/>
          <p:cNvSpPr txBox="1"/>
          <p:nvPr/>
        </p:nvSpPr>
        <p:spPr>
          <a:xfrm>
            <a:off x="4566818" y="4800600"/>
            <a:ext cx="3058058" cy="1188720"/>
          </a:xfrm>
          <a:prstGeom prst="rect">
            <a:avLst/>
          </a:prstGeom>
          <a:noFill/>
          <a:ln/>
        </p:spPr>
        <p:txBody>
          <a:bodyPr wrap="square" lIns="0" tIns="0" rIns="0" bIns="0" rtlCol="0" anchor="t"/>
          <a:lstStyle/>
          <a:p>
            <a:pPr indent="0" marL="0">
              <a:buNone/>
            </a:pPr>
            <a:r>
              <a:rPr lang="en-US" sz="1400" dirty="0">
                <a:solidFill>
                  <a:schemeClr val="tx1"/>
                </a:solidFill>
              </a:rPr>
              <a:t>Missing-SAT and missing-admission-rate flags (open-admission signal) + median imputation in the pipeline</a:t>
            </a:r>
            <a:endParaRPr lang="en-US" sz="1400" dirty="0"/>
          </a:p>
        </p:txBody>
      </p:sp>
      <p:sp>
        <p:nvSpPr>
          <p:cNvPr id="30" name="prep Encoding &amp; split"/>
          <p:cNvSpPr/>
          <p:nvPr/>
        </p:nvSpPr>
        <p:spPr>
          <a:xfrm>
            <a:off x="8127797" y="3977640"/>
            <a:ext cx="3515258" cy="2148840"/>
          </a:xfrm>
          <a:prstGeom prst="roundRect">
            <a:avLst>
              <a:gd name="adj" fmla="val 3404"/>
            </a:avLst>
          </a:prstGeom>
          <a:solidFill>
            <a:schemeClr val="bg2"/>
          </a:solidFill>
          <a:ln w="12700">
            <a:solidFill>
              <a:schemeClr val="bg2"/>
            </a:solidFill>
            <a:prstDash val="solid"/>
          </a:ln>
        </p:spPr>
      </p:sp>
      <p:sp>
        <p:nvSpPr>
          <p:cNvPr id="31" name="badge 6"/>
          <p:cNvSpPr/>
          <p:nvPr/>
        </p:nvSpPr>
        <p:spPr>
          <a:xfrm>
            <a:off x="8356397" y="4206240"/>
            <a:ext cx="411480" cy="411480"/>
          </a:xfrm>
          <a:prstGeom prst="ellipse">
            <a:avLst/>
          </a:prstGeom>
          <a:solidFill>
            <a:schemeClr val="accent2"/>
          </a:solidFill>
          <a:ln w="12700">
            <a:solidFill>
              <a:schemeClr val="accent2"/>
            </a:solidFill>
            <a:prstDash val="solid"/>
          </a:ln>
        </p:spPr>
      </p:sp>
      <p:sp>
        <p:nvSpPr>
          <p:cNvPr id="32" name="Text 29"/>
          <p:cNvSpPr txBox="1"/>
          <p:nvPr/>
        </p:nvSpPr>
        <p:spPr>
          <a:xfrm>
            <a:off x="8356397" y="42062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3" name="Text 30"/>
          <p:cNvSpPr txBox="1"/>
          <p:nvPr/>
        </p:nvSpPr>
        <p:spPr>
          <a:xfrm>
            <a:off x="8905037" y="4206240"/>
            <a:ext cx="2555138" cy="411480"/>
          </a:xfrm>
          <a:prstGeom prst="rect">
            <a:avLst/>
          </a:prstGeom>
          <a:noFill/>
          <a:ln/>
        </p:spPr>
        <p:txBody>
          <a:bodyPr wrap="square" lIns="0" tIns="0" rIns="0" bIns="0" rtlCol="0" anchor="ctr"/>
          <a:lstStyle/>
          <a:p>
            <a:pPr indent="0" marL="0">
              <a:buNone/>
            </a:pPr>
            <a:r>
              <a:rPr lang="en-US" sz="1700" b="1" dirty="0">
                <a:solidFill>
                  <a:schemeClr val="tx2"/>
                </a:solidFill>
              </a:rPr>
              <a:t>Encoding &amp; split</a:t>
            </a:r>
            <a:endParaRPr lang="en-US" sz="1700" dirty="0"/>
          </a:p>
        </p:txBody>
      </p:sp>
      <p:sp>
        <p:nvSpPr>
          <p:cNvPr id="34" name="Text 31"/>
          <p:cNvSpPr txBox="1"/>
          <p:nvPr/>
        </p:nvSpPr>
        <p:spPr>
          <a:xfrm>
            <a:off x="8356397" y="4800600"/>
            <a:ext cx="3058058" cy="1188720"/>
          </a:xfrm>
          <a:prstGeom prst="rect">
            <a:avLst/>
          </a:prstGeom>
          <a:noFill/>
          <a:ln/>
        </p:spPr>
        <p:txBody>
          <a:bodyPr wrap="square" lIns="0" tIns="0" rIns="0" bIns="0" rtlCol="0" anchor="t"/>
          <a:lstStyle/>
          <a:p>
            <a:pPr indent="0" marL="0">
              <a:buNone/>
            </a:pPr>
            <a:r>
              <a:rPr lang="en-US" sz="1400" dirty="0">
                <a:solidFill>
                  <a:schemeClr val="tx1"/>
                </a:solidFill>
              </a:rPr>
              <a:t>Standard scaling; one-hot for 7 nominal features; train/test and CV folds grouped by institution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2 · DATA</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Who beats the field median? Type and location stand out</a:t>
            </a:r>
            <a:endParaRPr lang="en-US" sz="3200" dirty="0"/>
          </a:p>
        </p:txBody>
      </p:sp>
      <p:graphicFrame>
        <p:nvGraphicFramePr>
          <p:cNvPr id="5" name="Chart 0" descr=""/>
          <p:cNvGraphicFramePr/>
          <p:nvPr/>
        </p:nvGraphicFramePr>
        <p:xfrm>
          <a:off x="548640" y="1463040"/>
          <a:ext cx="493776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852160" y="1463040"/>
          <a:ext cx="5790895" cy="47548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3 · MODEL</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Four class models, tuned with group cross-validation</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194560"/>
                <a:gridCol w="1280160"/>
                <a:gridCol w="3474720"/>
                <a:gridCol w="4144975"/>
              </a:tblGrid>
              <a:tr h="713232">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Lecture</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we tuned</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Selected</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L3, L4</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 L1 (LASSO) vs L2 (Ridge)</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C=0.1, penalty=l2</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Decision Tree (CART)</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L7</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depth, leaf size, ccp_alpha pruning</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ccp_alpha=0.0001, max_depth=None, min_samples_leaf=100</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L8</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trees, depth, leaf size, max_features</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n_estimators=200, min_samples_leaf=3, max_features=sqrt, max_depth=25</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L8, L10a</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learning rate, trees, depth, min_child_weight, gamma, reg_lambda, subsample</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subsample=0.8, reg_lambda=5, n_estimators=600, min_child_weight=1, max_depth=6, learning_rate=0.03, gamma=0</a:t>
                      </a:r>
                      <a:endParaRPr lang="en-US" sz="1300" dirty="0">
                        <a:latin typeface="Calibri" charset="0"/>
                        <a:ea typeface="Calibri" charset="0"/>
                        <a:cs typeface="Calibri" charset="0"/>
                      </a:endParaRPr>
                    </a:p>
                  </a:txBody>
                  <a:tcPr marL="73152" marR="73152" marT="73152" marB="73152"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97880"/>
            <a:ext cx="11094415" cy="320040"/>
          </a:xfrm>
          <a:prstGeom prst="rect">
            <a:avLst/>
          </a:prstGeom>
          <a:noFill/>
          <a:ln/>
        </p:spPr>
        <p:txBody>
          <a:bodyPr wrap="square" lIns="0" tIns="0" rIns="0" bIns="0" rtlCol="0" anchor="ctr"/>
          <a:lstStyle/>
          <a:p>
            <a:pPr indent="0" marL="0">
              <a:buNone/>
            </a:pPr>
            <a:r>
              <a:rPr lang="en-US" sz="1300" i="1" dirty="0">
                <a:solidFill>
                  <a:schemeClr val="accent4"/>
                </a:solidFill>
              </a:rPr>
              <a:t>Grid search for small spaces, randomized search for large ones. Test set used once, at the end.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3 · MODEL</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Spotlight: bagging (Random Forest) vs. boosting (XGBoost)</a:t>
            </a:r>
            <a:endParaRPr lang="en-US" sz="3200" dirty="0"/>
          </a:p>
        </p:txBody>
      </p:sp>
      <p:sp>
        <p:nvSpPr>
          <p:cNvPr id="5" name="XGBoost"/>
          <p:cNvSpPr/>
          <p:nvPr/>
        </p:nvSpPr>
        <p:spPr>
          <a:xfrm>
            <a:off x="548640" y="1508760"/>
            <a:ext cx="5394960" cy="3749040"/>
          </a:xfrm>
          <a:prstGeom prst="roundRect">
            <a:avLst>
              <a:gd name="adj" fmla="val 1951"/>
            </a:avLst>
          </a:prstGeom>
          <a:solidFill>
            <a:schemeClr val="tx2"/>
          </a:solidFill>
          <a:ln w="12700">
            <a:solidFill>
              <a:schemeClr val="tx2"/>
            </a:solidFill>
            <a:prstDash val="solid"/>
          </a:ln>
        </p:spPr>
      </p:sp>
      <p:sp>
        <p:nvSpPr>
          <p:cNvPr id="6" name="Text 3"/>
          <p:cNvSpPr txBox="1"/>
          <p:nvPr/>
        </p:nvSpPr>
        <p:spPr>
          <a:xfrm>
            <a:off x="868680" y="1691640"/>
            <a:ext cx="4754880" cy="457200"/>
          </a:xfrm>
          <a:prstGeom prst="rect">
            <a:avLst/>
          </a:prstGeom>
          <a:noFill/>
          <a:ln/>
        </p:spPr>
        <p:txBody>
          <a:bodyPr wrap="square" lIns="0" tIns="0" rIns="0" bIns="0" rtlCol="0" anchor="ctr"/>
          <a:lstStyle/>
          <a:p>
            <a:pPr indent="0" marL="0">
              <a:buNone/>
            </a:pPr>
            <a:r>
              <a:rPr lang="en-US" sz="2200" b="1" dirty="0">
                <a:solidFill>
                  <a:schemeClr val="bg1"/>
                </a:solidFill>
              </a:rPr>
              <a:t>XGBoost</a:t>
            </a:r>
            <a:endParaRPr lang="en-US" sz="2200" dirty="0"/>
          </a:p>
        </p:txBody>
      </p:sp>
      <p:sp>
        <p:nvSpPr>
          <p:cNvPr id="7" name="Text 4"/>
          <p:cNvSpPr txBox="1"/>
          <p:nvPr/>
        </p:nvSpPr>
        <p:spPr>
          <a:xfrm>
            <a:off x="868680" y="2148840"/>
            <a:ext cx="4754880" cy="320040"/>
          </a:xfrm>
          <a:prstGeom prst="rect">
            <a:avLst/>
          </a:prstGeom>
          <a:noFill/>
          <a:ln/>
        </p:spPr>
        <p:txBody>
          <a:bodyPr wrap="square" lIns="0" tIns="0" rIns="0" bIns="0" rtlCol="0" anchor="ctr"/>
          <a:lstStyle/>
          <a:p>
            <a:pPr indent="0" marL="0">
              <a:buNone/>
            </a:pPr>
            <a:r>
              <a:rPr lang="en-US" sz="1300" i="1" dirty="0">
                <a:solidFill>
                  <a:schemeClr val="accent3"/>
                </a:solidFill>
              </a:rPr>
              <a:t>Lectures 8 &amp; 10a</a:t>
            </a:r>
            <a:endParaRPr lang="en-US" sz="1300" dirty="0"/>
          </a:p>
        </p:txBody>
      </p:sp>
      <p:sp>
        <p:nvSpPr>
          <p:cNvPr id="8" name="Text 5"/>
          <p:cNvSpPr txBox="1"/>
          <p:nvPr/>
        </p:nvSpPr>
        <p:spPr>
          <a:xfrm>
            <a:off x="868680" y="2606040"/>
            <a:ext cx="4754880" cy="3383280"/>
          </a:xfrm>
          <a:prstGeom prst="rect">
            <a:avLst/>
          </a:prstGeom>
          <a:noFill/>
          <a:ln/>
        </p:spPr>
        <p:txBody>
          <a:bodyPr wrap="square" lIns="0" tIns="0" rIns="0" bIns="0" rtlCol="0" anchor="t"/>
          <a:lstStyle/>
          <a:p>
            <a:pPr indent="0" marL="0">
              <a:spcAft>
                <a:spcPts val="1000"/>
              </a:spcAft>
              <a:buNone/>
            </a:pPr>
            <a:r>
              <a:rPr lang="en-US" sz="1400" b="1" dirty="0">
                <a:solidFill>
                  <a:schemeClr val="accent3"/>
                </a:solidFill>
              </a:rPr>
              <a:t>How:  </a:t>
            </a:r>
            <a:pPr indent="0" marL="0">
              <a:spcAft>
                <a:spcPts val="1000"/>
              </a:spcAft>
              <a:buNone/>
            </a:pPr>
            <a:r>
              <a:rPr lang="en-US" sz="1400" dirty="0">
                <a:solidFill>
                  <a:schemeClr val="bg1"/>
                </a:solidFill>
              </a:rPr>
              <a:t>start from a constant, add small trees that fit the negative gradient of log-loss, with shrinkage</a:t>
            </a:r>
            <a:endParaRPr lang="en-US" sz="1400" dirty="0"/>
          </a:p>
          <a:p>
            <a:pPr indent="0" marL="0">
              <a:spcAft>
                <a:spcPts val="1000"/>
              </a:spcAft>
              <a:buNone/>
            </a:pPr>
            <a:r>
              <a:rPr lang="en-US" sz="1400" b="1" dirty="0">
                <a:solidFill>
                  <a:schemeClr val="accent3"/>
                </a:solidFill>
              </a:rPr>
              <a:t>Overfit control:  </a:t>
            </a:r>
            <a:pPr indent="0" marL="0">
              <a:spcAft>
                <a:spcPts val="1000"/>
              </a:spcAft>
              <a:buNone/>
            </a:pPr>
            <a:r>
              <a:rPr lang="en-US" sz="1400" dirty="0">
                <a:solidFill>
                  <a:schemeClr val="bg1"/>
                </a:solidFill>
              </a:rPr>
              <a:t>gamma (leaf penalty) + reg_lambda (L2), max_depth, min_child_weight, subsample</a:t>
            </a:r>
            <a:endParaRPr lang="en-US" sz="1400" dirty="0"/>
          </a:p>
          <a:p>
            <a:pPr indent="0" marL="0">
              <a:spcAft>
                <a:spcPts val="1000"/>
              </a:spcAft>
              <a:buNone/>
            </a:pPr>
            <a:r>
              <a:rPr lang="en-US" sz="1400" b="1" dirty="0">
                <a:solidFill>
                  <a:schemeClr val="accent3"/>
                </a:solidFill>
              </a:rPr>
              <a:t>Speed:  </a:t>
            </a:r>
            <a:pPr indent="0" marL="0">
              <a:spcAft>
                <a:spcPts val="1000"/>
              </a:spcAft>
              <a:buNone/>
            </a:pPr>
            <a:r>
              <a:rPr lang="en-US" sz="1400" dirty="0">
                <a:solidFill>
                  <a:schemeClr val="bg1"/>
                </a:solidFill>
              </a:rPr>
              <a:t>histogram split-finding ("cut each variable into L pieces")</a:t>
            </a:r>
            <a:endParaRPr lang="en-US" sz="1400" dirty="0"/>
          </a:p>
          <a:p>
            <a:pPr indent="0" marL="0">
              <a:spcAft>
                <a:spcPts val="1000"/>
              </a:spcAft>
              <a:buNone/>
            </a:pPr>
            <a:r>
              <a:rPr lang="en-US" sz="1400" b="1" dirty="0">
                <a:solidFill>
                  <a:schemeClr val="accent3"/>
                </a:solidFill>
              </a:rPr>
              <a:t>Chosen:  </a:t>
            </a:r>
            <a:pPr indent="0" marL="0">
              <a:spcAft>
                <a:spcPts val="1000"/>
              </a:spcAft>
              <a:buNone/>
            </a:pPr>
            <a:r>
              <a:rPr lang="en-US" sz="1400" dirty="0">
                <a:solidFill>
                  <a:schemeClr val="bg1"/>
                </a:solidFill>
              </a:rPr>
              <a:t>lr 0.03 × many trees, subsample 0.8, stronger L2</a:t>
            </a:r>
            <a:endParaRPr lang="en-US" sz="1400" dirty="0"/>
          </a:p>
        </p:txBody>
      </p:sp>
      <p:sp>
        <p:nvSpPr>
          <p:cNvPr id="9" name="Random Forest"/>
          <p:cNvSpPr/>
          <p:nvPr/>
        </p:nvSpPr>
        <p:spPr>
          <a:xfrm>
            <a:off x="6245352" y="1508760"/>
            <a:ext cx="5394960" cy="3749040"/>
          </a:xfrm>
          <a:prstGeom prst="roundRect">
            <a:avLst>
              <a:gd name="adj" fmla="val 1951"/>
            </a:avLst>
          </a:prstGeom>
          <a:solidFill>
            <a:schemeClr val="bg2"/>
          </a:solidFill>
          <a:ln w="12700">
            <a:solidFill>
              <a:schemeClr val="bg2"/>
            </a:solidFill>
            <a:prstDash val="solid"/>
          </a:ln>
        </p:spPr>
      </p:sp>
      <p:sp>
        <p:nvSpPr>
          <p:cNvPr id="10" name="Text 7"/>
          <p:cNvSpPr txBox="1"/>
          <p:nvPr/>
        </p:nvSpPr>
        <p:spPr>
          <a:xfrm>
            <a:off x="6565392" y="1691640"/>
            <a:ext cx="4754880" cy="457200"/>
          </a:xfrm>
          <a:prstGeom prst="rect">
            <a:avLst/>
          </a:prstGeom>
          <a:noFill/>
          <a:ln/>
        </p:spPr>
        <p:txBody>
          <a:bodyPr wrap="square" lIns="0" tIns="0" rIns="0" bIns="0" rtlCol="0" anchor="ctr"/>
          <a:lstStyle/>
          <a:p>
            <a:pPr indent="0" marL="0">
              <a:buNone/>
            </a:pPr>
            <a:r>
              <a:rPr lang="en-US" sz="2200" b="1" dirty="0">
                <a:solidFill>
                  <a:schemeClr val="tx2"/>
                </a:solidFill>
              </a:rPr>
              <a:t>Random Forest</a:t>
            </a:r>
            <a:endParaRPr lang="en-US" sz="2200" dirty="0"/>
          </a:p>
        </p:txBody>
      </p:sp>
      <p:sp>
        <p:nvSpPr>
          <p:cNvPr id="11" name="Text 8"/>
          <p:cNvSpPr txBox="1"/>
          <p:nvPr/>
        </p:nvSpPr>
        <p:spPr>
          <a:xfrm>
            <a:off x="6565392" y="2148840"/>
            <a:ext cx="4754880" cy="320040"/>
          </a:xfrm>
          <a:prstGeom prst="rect">
            <a:avLst/>
          </a:prstGeom>
          <a:noFill/>
          <a:ln/>
        </p:spPr>
        <p:txBody>
          <a:bodyPr wrap="square" lIns="0" tIns="0" rIns="0" bIns="0" rtlCol="0" anchor="ctr"/>
          <a:lstStyle/>
          <a:p>
            <a:pPr indent="0" marL="0">
              <a:buNone/>
            </a:pPr>
            <a:r>
              <a:rPr lang="en-US" sz="1300" i="1" dirty="0">
                <a:solidFill>
                  <a:schemeClr val="accent4"/>
                </a:solidFill>
              </a:rPr>
              <a:t>Lecture 8 (bagging)</a:t>
            </a:r>
            <a:endParaRPr lang="en-US" sz="1300" dirty="0"/>
          </a:p>
        </p:txBody>
      </p:sp>
      <p:sp>
        <p:nvSpPr>
          <p:cNvPr id="12" name="Text 9"/>
          <p:cNvSpPr txBox="1"/>
          <p:nvPr/>
        </p:nvSpPr>
        <p:spPr>
          <a:xfrm>
            <a:off x="6565392" y="2606040"/>
            <a:ext cx="4754880" cy="338328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How:  </a:t>
            </a:r>
            <a:pPr indent="0" marL="0">
              <a:spcAft>
                <a:spcPts val="1000"/>
              </a:spcAft>
              <a:buNone/>
            </a:pPr>
            <a:r>
              <a:rPr lang="en-US" sz="1400" dirty="0">
                <a:solidFill>
                  <a:schemeClr val="tx1"/>
                </a:solidFill>
              </a:rPr>
              <a:t>grow many deep trees, each on a bootstrap sample of rows, then average their votes</a:t>
            </a:r>
            <a:endParaRPr lang="en-US" sz="1400" dirty="0"/>
          </a:p>
          <a:p>
            <a:pPr indent="0" marL="0">
              <a:spcAft>
                <a:spcPts val="1000"/>
              </a:spcAft>
              <a:buNone/>
            </a:pPr>
            <a:r>
              <a:rPr lang="en-US" sz="1400" b="1" dirty="0">
                <a:solidFill>
                  <a:schemeClr val="accent1"/>
                </a:solidFill>
              </a:rPr>
              <a:t>Decorrelation:  </a:t>
            </a:r>
            <a:pPr indent="0" marL="0">
              <a:spcAft>
                <a:spcPts val="1000"/>
              </a:spcAft>
              <a:buNone/>
            </a:pPr>
            <a:r>
              <a:rPr lang="en-US" sz="1400" dirty="0">
                <a:solidFill>
                  <a:schemeClr val="tx1"/>
                </a:solidFill>
              </a:rPr>
              <a:t>each split looks at a random subset of features (max_features = sqrt)</a:t>
            </a:r>
            <a:endParaRPr lang="en-US" sz="1400" dirty="0"/>
          </a:p>
          <a:p>
            <a:pPr indent="0" marL="0">
              <a:spcAft>
                <a:spcPts val="1000"/>
              </a:spcAft>
              <a:buNone/>
            </a:pPr>
            <a:r>
              <a:rPr lang="en-US" sz="1400" b="1" dirty="0">
                <a:solidFill>
                  <a:schemeClr val="accent1"/>
                </a:solidFill>
              </a:rPr>
              <a:t>Overfit control:  </a:t>
            </a:r>
            <a:pPr indent="0" marL="0">
              <a:spcAft>
                <a:spcPts val="1000"/>
              </a:spcAft>
              <a:buNone/>
            </a:pPr>
            <a:r>
              <a:rPr lang="en-US" sz="1400" dirty="0">
                <a:solidFill>
                  <a:schemeClr val="tx1"/>
                </a:solidFill>
              </a:rPr>
              <a:t>averaging cuts variance; depth and leaf size limit each tree</a:t>
            </a:r>
            <a:endParaRPr lang="en-US" sz="1400" dirty="0"/>
          </a:p>
          <a:p>
            <a:pPr indent="0" marL="0">
              <a:spcAft>
                <a:spcPts val="1000"/>
              </a:spcAft>
              <a:buNone/>
            </a:pPr>
            <a:r>
              <a:rPr lang="en-US" sz="1400" b="1" dirty="0">
                <a:solidFill>
                  <a:schemeClr val="accent1"/>
                </a:solidFill>
              </a:rPr>
              <a:t>Chosen:  </a:t>
            </a:r>
            <a:pPr indent="0" marL="0">
              <a:spcAft>
                <a:spcPts val="1000"/>
              </a:spcAft>
              <a:buNone/>
            </a:pPr>
            <a:r>
              <a:rPr lang="en-US" sz="1400" dirty="0">
                <a:solidFill>
                  <a:schemeClr val="tx1"/>
                </a:solidFill>
              </a:rPr>
              <a:t>200 trees, max depth 25, min leaf 3, sqrt features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4 · MODEL COMPARISON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XGBoost ranks programs best on unseen schools</a:t>
            </a:r>
            <a:endParaRPr lang="en-US" sz="3200" dirty="0"/>
          </a:p>
        </p:txBody>
      </p:sp>
      <p:graphicFrame>
        <p:nvGraphicFramePr>
          <p:cNvPr id="5" name="Chart 0" descr=""/>
          <p:cNvGraphicFramePr/>
          <p:nvPr/>
        </p:nvGraphicFramePr>
        <p:xfrm>
          <a:off x="548640" y="1463040"/>
          <a:ext cx="512064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0" y="1600200"/>
          <a:ext cx="5699455" cy="914400"/>
        </p:xfrm>
        <a:graphic>
          <a:graphicData uri="http://schemas.openxmlformats.org/drawingml/2006/table">
            <a:tbl>
              <a:tblPr/>
              <a:tblGrid>
                <a:gridCol w="1417320"/>
                <a:gridCol w="594360"/>
                <a:gridCol w="685800"/>
                <a:gridCol w="594360"/>
                <a:gridCol w="594360"/>
                <a:gridCol w="640080"/>
                <a:gridCol w="548640"/>
                <a:gridCol w="624535"/>
              </a:tblGrid>
              <a:tr h="45720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Acc.</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Prec.</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LogLoss</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solidFill>
                      <a:schemeClr val="tx2"/>
                    </a:solidFill>
                  </a:tcPr>
                </a:tc>
              </a:tr>
              <a:tr h="457200">
                <a:tc>
                  <a:txBody>
                    <a:bodyPr/>
                    <a:lstStyle/>
                    <a:p>
                      <a:pPr algn="l" indent="0" marL="0">
                        <a:buNone/>
                      </a:pPr>
                      <a:r>
                        <a:rPr lang="en-US" sz="1200" b="1" dirty="0">
                          <a:solidFill>
                            <a:schemeClr val="tx1"/>
                          </a:solidFill>
                          <a:latin typeface="Calibri" pitchFamily="34" charset="0"/>
                          <a:ea typeface="Calibri" pitchFamily="34" charset="-122"/>
                          <a:cs typeface="Calibri" pitchFamily="34" charset="-120"/>
                        </a:rPr>
                        <a:t>XGBoost</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0.781</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0.768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0.703</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0.698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0.650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0.673</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b="1" dirty="0">
                          <a:solidFill>
                            <a:schemeClr val="tx1"/>
                          </a:solidFill>
                          <a:latin typeface="Calibri" pitchFamily="34" charset="0"/>
                          <a:ea typeface="Calibri" pitchFamily="34" charset="-122"/>
                          <a:cs typeface="Calibri" pitchFamily="34" charset="-120"/>
                        </a:rPr>
                        <a:t>0.556</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Random Forest</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0.778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0.764</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0.700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0.697</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0.640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0.668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0.565</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Logistic Reg.</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0.735</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0.704</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0.673</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0.664</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0.619</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0.640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0.601</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r>
              <a:tr h="457200">
                <a:tc>
                  <a:txBody>
                    <a:bodyPr/>
                    <a:lstStyle/>
                    <a:p>
                      <a:pPr algn="l" indent="0" marL="0">
                        <a:buNone/>
                      </a:pPr>
                      <a:r>
                        <a:rPr lang="en-US" sz="1200" dirty="0">
                          <a:solidFill>
                            <a:schemeClr val="tx1"/>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0.698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0.660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0.646</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0.627</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0.610</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0.618</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c>
                  <a:txBody>
                    <a:bodyPr/>
                    <a:lstStyle/>
                    <a:p>
                      <a:pPr algn="ctr" indent="0" marL="0">
                        <a:buNone/>
                      </a:pPr>
                      <a:r>
                        <a:rPr lang="en-US" sz="1200" dirty="0">
                          <a:solidFill>
                            <a:schemeClr val="tx1"/>
                          </a:solidFill>
                          <a:latin typeface="Calibri" pitchFamily="34" charset="0"/>
                          <a:ea typeface="Calibri" pitchFamily="34" charset="-122"/>
                          <a:cs typeface="Calibri" pitchFamily="34" charset="-120"/>
                        </a:rPr>
                        <a:t>0.642</a:t>
                      </a:r>
                      <a:endParaRPr lang="en-US" sz="1200" dirty="0">
                        <a:latin typeface="Calibri" charset="0"/>
                        <a:ea typeface="Calibri" charset="0"/>
                        <a:cs typeface="Calibri" charset="0"/>
                      </a:endParaRPr>
                    </a:p>
                  </a:txBody>
                  <a:tcPr marL="45720" marR="45720" marT="45720" marB="45720" anchor="ctr">
                    <a:lnL w="9525" cap="flat" cmpd="sng" algn="ctr">
                      <a:solidFill>
                        <a:srgbClr val="D9E6DF"/>
                      </a:solidFill>
                      <a:prstDash val="solid"/>
                      <a:round/>
                      <a:headEnd type="none" w="med" len="med"/>
                      <a:tailEnd type="none" w="med" len="med"/>
                    </a:lnL>
                    <a:lnR w="9525" cap="flat" cmpd="sng" algn="ctr">
                      <a:solidFill>
                        <a:srgbClr val="D9E6DF"/>
                      </a:solidFill>
                      <a:prstDash val="solid"/>
                      <a:round/>
                      <a:headEnd type="none" w="med" len="med"/>
                      <a:tailEnd type="none" w="med" len="med"/>
                    </a:lnR>
                    <a:lnT w="9525" cap="flat" cmpd="sng" algn="ctr">
                      <a:solidFill>
                        <a:srgbClr val="D9E6DF"/>
                      </a:solidFill>
                      <a:prstDash val="solid"/>
                      <a:round/>
                      <a:headEnd type="none" w="med" len="med"/>
                      <a:tailEnd type="none" w="med" len="med"/>
                    </a:lnT>
                    <a:lnB w="9525" cap="flat" cmpd="sng" algn="ctr">
                      <a:solidFill>
                        <a:srgbClr val="D9E6DF"/>
                      </a:solidFill>
                      <a:prstDash val="solid"/>
                      <a:round/>
                      <a:headEnd type="none" w="med" len="med"/>
                      <a:tailEnd type="none" w="med" len="med"/>
                    </a:lnB>
                  </a:tcPr>
                </a:tc>
              </a:tr>
            </a:tbl>
          </a:graphicData>
        </a:graphic>
      </p:graphicFrame>
      <p:sp>
        <p:nvSpPr>
          <p:cNvPr id="7" name="Text 2"/>
          <p:cNvSpPr txBox="1"/>
          <p:nvPr/>
        </p:nvSpPr>
        <p:spPr>
          <a:xfrm>
            <a:off x="5943600" y="4846320"/>
            <a:ext cx="5699455" cy="914400"/>
          </a:xfrm>
          <a:prstGeom prst="rect">
            <a:avLst/>
          </a:prstGeom>
          <a:noFill/>
          <a:ln/>
        </p:spPr>
        <p:txBody>
          <a:bodyPr wrap="square" lIns="0" tIns="0" rIns="0" bIns="0" rtlCol="0" anchor="t"/>
          <a:lstStyle/>
          <a:p>
            <a:pPr indent="0" marL="0">
              <a:buNone/>
            </a:pPr>
            <a:r>
              <a:rPr lang="en-US" sz="1400" dirty="0">
                <a:solidFill>
                  <a:schemeClr val="tx1"/>
                </a:solidFill>
              </a:rPr>
              <a:t>All models beat the 52.7% majority-class baseline. XGBoost also has the lowest log loss, so its probabilities are the best calibrated.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4 · MODEL COMPARISON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ROC and precision-recall curves agree</a:t>
            </a:r>
            <a:endParaRPr lang="en-US" sz="3200" dirty="0"/>
          </a:p>
        </p:txBody>
      </p:sp>
      <p:pic>
        <p:nvPicPr>
          <p:cNvPr id="5" name="Image 0" descr="ROC and precision-recall curves for the four models on held-out schools">    </p:cNvPr>
          <p:cNvPicPr>
            <a:picLocks noChangeAspect="1"/>
          </p:cNvPicPr>
          <p:nvPr/>
        </p:nvPicPr>
        <p:blipFill>
          <a:blip r:embed="rId1"/>
          <a:stretch>
            <a:fillRect/>
          </a:stretch>
        </p:blipFill>
        <p:spPr>
          <a:xfrm>
            <a:off x="883768" y="1417320"/>
            <a:ext cx="10424160" cy="4811151"/>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4 · MODEL COMPARISON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Ensembles beat their building block, the single tree</a:t>
            </a:r>
            <a:endParaRPr lang="en-US" sz="3200" dirty="0"/>
          </a:p>
        </p:txBody>
      </p:sp>
      <p:sp>
        <p:nvSpPr>
          <p:cNvPr id="5" name="step Decision Tree"/>
          <p:cNvSpPr/>
          <p:nvPr/>
        </p:nvSpPr>
        <p:spPr>
          <a:xfrm>
            <a:off x="548640" y="1737360"/>
            <a:ext cx="3200400" cy="2651760"/>
          </a:xfrm>
          <a:prstGeom prst="roundRect">
            <a:avLst>
              <a:gd name="adj" fmla="val 2759"/>
            </a:avLst>
          </a:prstGeom>
          <a:solidFill>
            <a:schemeClr val="bg2"/>
          </a:solidFill>
          <a:ln w="12700">
            <a:solidFill>
              <a:schemeClr val="bg2"/>
            </a:solidFill>
            <a:prstDash val="solid"/>
          </a:ln>
        </p:spPr>
      </p:sp>
      <p:sp>
        <p:nvSpPr>
          <p:cNvPr id="6" name="Text 3"/>
          <p:cNvSpPr txBox="1"/>
          <p:nvPr/>
        </p:nvSpPr>
        <p:spPr>
          <a:xfrm>
            <a:off x="548640" y="1965960"/>
            <a:ext cx="3200400" cy="100584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0.698</a:t>
            </a:r>
            <a:endParaRPr lang="en-US" sz="5400" dirty="0"/>
          </a:p>
        </p:txBody>
      </p:sp>
      <p:sp>
        <p:nvSpPr>
          <p:cNvPr id="7" name="Text 4"/>
          <p:cNvSpPr txBox="1"/>
          <p:nvPr/>
        </p:nvSpPr>
        <p:spPr>
          <a:xfrm>
            <a:off x="548640" y="2926080"/>
            <a:ext cx="3200400" cy="320040"/>
          </a:xfrm>
          <a:prstGeom prst="rect">
            <a:avLst/>
          </a:prstGeom>
          <a:noFill/>
          <a:ln/>
        </p:spPr>
        <p:txBody>
          <a:bodyPr wrap="square" lIns="0" tIns="0" rIns="0" bIns="0" rtlCol="0" anchor="ctr"/>
          <a:lstStyle/>
          <a:p>
            <a:pPr algn="ctr" indent="0" marL="0">
              <a:buNone/>
            </a:pPr>
            <a:r>
              <a:rPr lang="en-US" sz="1300" dirty="0">
                <a:solidFill>
                  <a:schemeClr val="accent4"/>
                </a:solidFill>
              </a:rPr>
              <a:t>test AUC</a:t>
            </a:r>
            <a:endParaRPr lang="en-US" sz="1300" dirty="0"/>
          </a:p>
        </p:txBody>
      </p:sp>
      <p:sp>
        <p:nvSpPr>
          <p:cNvPr id="8" name="Text 5"/>
          <p:cNvSpPr txBox="1"/>
          <p:nvPr/>
        </p:nvSpPr>
        <p:spPr>
          <a:xfrm>
            <a:off x="548640" y="3337560"/>
            <a:ext cx="3200400" cy="411480"/>
          </a:xfrm>
          <a:prstGeom prst="rect">
            <a:avLst/>
          </a:prstGeom>
          <a:noFill/>
          <a:ln/>
        </p:spPr>
        <p:txBody>
          <a:bodyPr wrap="square" lIns="0" tIns="0" rIns="0" bIns="0" rtlCol="0" anchor="ctr"/>
          <a:lstStyle/>
          <a:p>
            <a:pPr algn="ctr" indent="0" marL="0">
              <a:buNone/>
            </a:pPr>
            <a:r>
              <a:rPr lang="en-US" sz="1800" b="1" dirty="0">
                <a:solidFill>
                  <a:schemeClr val="tx2"/>
                </a:solidFill>
              </a:rPr>
              <a:t>Decision Tree</a:t>
            </a:r>
            <a:endParaRPr lang="en-US" sz="1800" dirty="0"/>
          </a:p>
        </p:txBody>
      </p:sp>
      <p:sp>
        <p:nvSpPr>
          <p:cNvPr id="9" name="Text 6"/>
          <p:cNvSpPr txBox="1"/>
          <p:nvPr/>
        </p:nvSpPr>
        <p:spPr>
          <a:xfrm>
            <a:off x="548640" y="3749040"/>
            <a:ext cx="3200400" cy="365760"/>
          </a:xfrm>
          <a:prstGeom prst="rect">
            <a:avLst/>
          </a:prstGeom>
          <a:noFill/>
          <a:ln/>
        </p:spPr>
        <p:txBody>
          <a:bodyPr wrap="square" lIns="0" tIns="0" rIns="0" bIns="0" rtlCol="0" anchor="ctr"/>
          <a:lstStyle/>
          <a:p>
            <a:pPr algn="ctr" indent="0" marL="0">
              <a:buNone/>
            </a:pPr>
            <a:r>
              <a:rPr lang="en-US" sz="1300" dirty="0">
                <a:solidFill>
                  <a:schemeClr val="accent4"/>
                </a:solidFill>
              </a:rPr>
              <a:t>one pruned CART tree</a:t>
            </a:r>
            <a:endParaRPr lang="en-US" sz="1300" dirty="0"/>
          </a:p>
        </p:txBody>
      </p:sp>
      <p:sp>
        <p:nvSpPr>
          <p:cNvPr id="10" name="arrow 0"/>
          <p:cNvSpPr/>
          <p:nvPr/>
        </p:nvSpPr>
        <p:spPr>
          <a:xfrm>
            <a:off x="3858768" y="2788920"/>
            <a:ext cx="384048" cy="502920"/>
          </a:xfrm>
          <a:prstGeom prst="rightArrow">
            <a:avLst/>
          </a:prstGeom>
          <a:solidFill>
            <a:schemeClr val="accent2"/>
          </a:solidFill>
          <a:ln w="12700">
            <a:solidFill>
              <a:schemeClr val="accent2"/>
            </a:solidFill>
            <a:prstDash val="solid"/>
          </a:ln>
        </p:spPr>
      </p:sp>
      <p:sp>
        <p:nvSpPr>
          <p:cNvPr id="11" name="step Random Forest"/>
          <p:cNvSpPr/>
          <p:nvPr/>
        </p:nvSpPr>
        <p:spPr>
          <a:xfrm>
            <a:off x="4343400" y="1737360"/>
            <a:ext cx="3200400" cy="2651760"/>
          </a:xfrm>
          <a:prstGeom prst="roundRect">
            <a:avLst>
              <a:gd name="adj" fmla="val 2759"/>
            </a:avLst>
          </a:prstGeom>
          <a:solidFill>
            <a:schemeClr val="bg2"/>
          </a:solidFill>
          <a:ln w="12700">
            <a:solidFill>
              <a:schemeClr val="bg2"/>
            </a:solidFill>
            <a:prstDash val="solid"/>
          </a:ln>
        </p:spPr>
      </p:sp>
      <p:sp>
        <p:nvSpPr>
          <p:cNvPr id="12" name="Text 9"/>
          <p:cNvSpPr txBox="1"/>
          <p:nvPr/>
        </p:nvSpPr>
        <p:spPr>
          <a:xfrm>
            <a:off x="4343400" y="1965960"/>
            <a:ext cx="3200400" cy="100584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0.778</a:t>
            </a:r>
            <a:endParaRPr lang="en-US" sz="5400" dirty="0"/>
          </a:p>
        </p:txBody>
      </p:sp>
      <p:sp>
        <p:nvSpPr>
          <p:cNvPr id="13" name="Text 10"/>
          <p:cNvSpPr txBox="1"/>
          <p:nvPr/>
        </p:nvSpPr>
        <p:spPr>
          <a:xfrm>
            <a:off x="4343400" y="2926080"/>
            <a:ext cx="3200400" cy="320040"/>
          </a:xfrm>
          <a:prstGeom prst="rect">
            <a:avLst/>
          </a:prstGeom>
          <a:noFill/>
          <a:ln/>
        </p:spPr>
        <p:txBody>
          <a:bodyPr wrap="square" lIns="0" tIns="0" rIns="0" bIns="0" rtlCol="0" anchor="ctr"/>
          <a:lstStyle/>
          <a:p>
            <a:pPr algn="ctr" indent="0" marL="0">
              <a:buNone/>
            </a:pPr>
            <a:r>
              <a:rPr lang="en-US" sz="1300" dirty="0">
                <a:solidFill>
                  <a:schemeClr val="accent4"/>
                </a:solidFill>
              </a:rPr>
              <a:t>test AUC</a:t>
            </a:r>
            <a:endParaRPr lang="en-US" sz="1300" dirty="0"/>
          </a:p>
        </p:txBody>
      </p:sp>
      <p:sp>
        <p:nvSpPr>
          <p:cNvPr id="14" name="Text 11"/>
          <p:cNvSpPr txBox="1"/>
          <p:nvPr/>
        </p:nvSpPr>
        <p:spPr>
          <a:xfrm>
            <a:off x="4343400" y="3337560"/>
            <a:ext cx="3200400" cy="411480"/>
          </a:xfrm>
          <a:prstGeom prst="rect">
            <a:avLst/>
          </a:prstGeom>
          <a:noFill/>
          <a:ln/>
        </p:spPr>
        <p:txBody>
          <a:bodyPr wrap="square" lIns="0" tIns="0" rIns="0" bIns="0" rtlCol="0" anchor="ctr"/>
          <a:lstStyle/>
          <a:p>
            <a:pPr algn="ctr" indent="0" marL="0">
              <a:buNone/>
            </a:pPr>
            <a:r>
              <a:rPr lang="en-US" sz="1800" b="1" dirty="0">
                <a:solidFill>
                  <a:schemeClr val="tx2"/>
                </a:solidFill>
              </a:rPr>
              <a:t>Random Forest</a:t>
            </a:r>
            <a:endParaRPr lang="en-US" sz="1800" dirty="0"/>
          </a:p>
        </p:txBody>
      </p:sp>
      <p:sp>
        <p:nvSpPr>
          <p:cNvPr id="15" name="Text 12"/>
          <p:cNvSpPr txBox="1"/>
          <p:nvPr/>
        </p:nvSpPr>
        <p:spPr>
          <a:xfrm>
            <a:off x="4343400" y="3749040"/>
            <a:ext cx="3200400" cy="365760"/>
          </a:xfrm>
          <a:prstGeom prst="rect">
            <a:avLst/>
          </a:prstGeom>
          <a:noFill/>
          <a:ln/>
        </p:spPr>
        <p:txBody>
          <a:bodyPr wrap="square" lIns="0" tIns="0" rIns="0" bIns="0" rtlCol="0" anchor="ctr"/>
          <a:lstStyle/>
          <a:p>
            <a:pPr algn="ctr" indent="0" marL="0">
              <a:buNone/>
            </a:pPr>
            <a:r>
              <a:rPr lang="en-US" sz="1300" dirty="0">
                <a:solidFill>
                  <a:schemeClr val="accent4"/>
                </a:solidFill>
              </a:rPr>
              <a:t>bagging: average 200 trees</a:t>
            </a:r>
            <a:endParaRPr lang="en-US" sz="1300" dirty="0"/>
          </a:p>
        </p:txBody>
      </p:sp>
      <p:sp>
        <p:nvSpPr>
          <p:cNvPr id="16" name="arrow 1"/>
          <p:cNvSpPr/>
          <p:nvPr/>
        </p:nvSpPr>
        <p:spPr>
          <a:xfrm>
            <a:off x="7653528" y="2788920"/>
            <a:ext cx="384048" cy="502920"/>
          </a:xfrm>
          <a:prstGeom prst="rightArrow">
            <a:avLst/>
          </a:prstGeom>
          <a:solidFill>
            <a:schemeClr val="accent2"/>
          </a:solidFill>
          <a:ln w="12700">
            <a:solidFill>
              <a:schemeClr val="accent2"/>
            </a:solidFill>
            <a:prstDash val="solid"/>
          </a:ln>
        </p:spPr>
      </p:sp>
      <p:sp>
        <p:nvSpPr>
          <p:cNvPr id="17" name="step XGBoost"/>
          <p:cNvSpPr/>
          <p:nvPr/>
        </p:nvSpPr>
        <p:spPr>
          <a:xfrm>
            <a:off x="8138160" y="1737360"/>
            <a:ext cx="3200400" cy="2651760"/>
          </a:xfrm>
          <a:prstGeom prst="roundRect">
            <a:avLst>
              <a:gd name="adj" fmla="val 2759"/>
            </a:avLst>
          </a:prstGeom>
          <a:solidFill>
            <a:schemeClr val="tx2"/>
          </a:solidFill>
          <a:ln w="12700">
            <a:solidFill>
              <a:schemeClr val="tx2"/>
            </a:solidFill>
            <a:prstDash val="solid"/>
          </a:ln>
        </p:spPr>
      </p:sp>
      <p:sp>
        <p:nvSpPr>
          <p:cNvPr id="18" name="Text 15"/>
          <p:cNvSpPr txBox="1"/>
          <p:nvPr/>
        </p:nvSpPr>
        <p:spPr>
          <a:xfrm>
            <a:off x="8138160" y="1965960"/>
            <a:ext cx="3200400" cy="100584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0.781</a:t>
            </a:r>
            <a:endParaRPr lang="en-US" sz="5400" dirty="0"/>
          </a:p>
        </p:txBody>
      </p:sp>
      <p:sp>
        <p:nvSpPr>
          <p:cNvPr id="19" name="Text 16"/>
          <p:cNvSpPr txBox="1"/>
          <p:nvPr/>
        </p:nvSpPr>
        <p:spPr>
          <a:xfrm>
            <a:off x="8138160" y="2926080"/>
            <a:ext cx="3200400" cy="320040"/>
          </a:xfrm>
          <a:prstGeom prst="rect">
            <a:avLst/>
          </a:prstGeom>
          <a:noFill/>
          <a:ln/>
        </p:spPr>
        <p:txBody>
          <a:bodyPr wrap="square" lIns="0" tIns="0" rIns="0" bIns="0" rtlCol="0" anchor="ctr"/>
          <a:lstStyle/>
          <a:p>
            <a:pPr algn="ctr" indent="0" marL="0">
              <a:buNone/>
            </a:pPr>
            <a:r>
              <a:rPr lang="en-US" sz="1300" dirty="0">
                <a:solidFill>
                  <a:schemeClr val="accent3"/>
                </a:solidFill>
              </a:rPr>
              <a:t>test AUC</a:t>
            </a:r>
            <a:endParaRPr lang="en-US" sz="1300" dirty="0"/>
          </a:p>
        </p:txBody>
      </p:sp>
      <p:sp>
        <p:nvSpPr>
          <p:cNvPr id="20" name="Text 17"/>
          <p:cNvSpPr txBox="1"/>
          <p:nvPr/>
        </p:nvSpPr>
        <p:spPr>
          <a:xfrm>
            <a:off x="8138160" y="3337560"/>
            <a:ext cx="3200400" cy="411480"/>
          </a:xfrm>
          <a:prstGeom prst="rect">
            <a:avLst/>
          </a:prstGeom>
          <a:noFill/>
          <a:ln/>
        </p:spPr>
        <p:txBody>
          <a:bodyPr wrap="square" lIns="0" tIns="0" rIns="0" bIns="0" rtlCol="0" anchor="ctr"/>
          <a:lstStyle/>
          <a:p>
            <a:pPr algn="ctr" indent="0" marL="0">
              <a:buNone/>
            </a:pPr>
            <a:r>
              <a:rPr lang="en-US" sz="1800" b="1" dirty="0">
                <a:solidFill>
                  <a:schemeClr val="bg1"/>
                </a:solidFill>
              </a:rPr>
              <a:t>XGBoost</a:t>
            </a:r>
            <a:endParaRPr lang="en-US" sz="1800" dirty="0"/>
          </a:p>
        </p:txBody>
      </p:sp>
      <p:sp>
        <p:nvSpPr>
          <p:cNvPr id="21" name="Text 18"/>
          <p:cNvSpPr txBox="1"/>
          <p:nvPr/>
        </p:nvSpPr>
        <p:spPr>
          <a:xfrm>
            <a:off x="8138160" y="3749040"/>
            <a:ext cx="3200400" cy="365760"/>
          </a:xfrm>
          <a:prstGeom prst="rect">
            <a:avLst/>
          </a:prstGeom>
          <a:noFill/>
          <a:ln/>
        </p:spPr>
        <p:txBody>
          <a:bodyPr wrap="square" lIns="0" tIns="0" rIns="0" bIns="0" rtlCol="0" anchor="ctr"/>
          <a:lstStyle/>
          <a:p>
            <a:pPr algn="ctr" indent="0" marL="0">
              <a:buNone/>
            </a:pPr>
            <a:r>
              <a:rPr lang="en-US" sz="1300" dirty="0">
                <a:solidFill>
                  <a:schemeClr val="accent5"/>
                </a:solidFill>
              </a:rPr>
              <a:t>boosting: fix residual gradients</a:t>
            </a:r>
            <a:endParaRPr lang="en-US" sz="1300" dirty="0"/>
          </a:p>
        </p:txBody>
      </p:sp>
      <p:sp>
        <p:nvSpPr>
          <p:cNvPr id="22" name="Text 19"/>
          <p:cNvSpPr txBox="1"/>
          <p:nvPr/>
        </p:nvSpPr>
        <p:spPr>
          <a:xfrm>
            <a:off x="548640" y="4846320"/>
            <a:ext cx="11094415" cy="822960"/>
          </a:xfrm>
          <a:prstGeom prst="rect">
            <a:avLst/>
          </a:prstGeom>
          <a:noFill/>
          <a:ln/>
        </p:spPr>
        <p:txBody>
          <a:bodyPr wrap="square" lIns="0" tIns="0" rIns="0" bIns="0" rtlCol="0" anchor="t"/>
          <a:lstStyle/>
          <a:p>
            <a:pPr indent="0" marL="0">
              <a:buNone/>
            </a:pPr>
            <a:r>
              <a:rPr lang="en-US" sz="1500" b="1" dirty="0">
                <a:solidFill>
                  <a:schemeClr val="tx1"/>
                </a:solidFill>
              </a:rPr>
              <a:t>For reference:  </a:t>
            </a:r>
            <a:pPr indent="0" marL="0">
              <a:buNone/>
            </a:pPr>
            <a:r>
              <a:rPr lang="en-US" sz="1500" dirty="0">
                <a:solidFill>
                  <a:schemeClr val="tx1"/>
                </a:solidFill>
              </a:rPr>
              <a:t>Logistic Regression 0.735. Non-linear interactions matter (e.g., SAT matters differently by credential), and trees capture them best on tabular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4 · MODEL COMPARISON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What drives the prediction: location and school profile</a:t>
            </a:r>
            <a:endParaRPr lang="en-US" sz="3200" dirty="0"/>
          </a:p>
        </p:txBody>
      </p:sp>
      <p:graphicFrame>
        <p:nvGraphicFramePr>
          <p:cNvPr id="5" name="Chart 0" descr=""/>
          <p:cNvGraphicFramePr/>
          <p:nvPr/>
        </p:nvGraphicFramePr>
        <p:xfrm>
          <a:off x="548640" y="146304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6" name="driver Location"/>
          <p:cNvSpPr/>
          <p:nvPr/>
        </p:nvSpPr>
        <p:spPr>
          <a:xfrm>
            <a:off x="7863840" y="1691640"/>
            <a:ext cx="3779215" cy="1234440"/>
          </a:xfrm>
          <a:prstGeom prst="roundRect">
            <a:avLst>
              <a:gd name="adj" fmla="val 5926"/>
            </a:avLst>
          </a:prstGeom>
          <a:solidFill>
            <a:schemeClr val="bg2"/>
          </a:solidFill>
          <a:ln w="12700">
            <a:solidFill>
              <a:schemeClr val="bg2"/>
            </a:solidFill>
            <a:prstDash val="solid"/>
          </a:ln>
        </p:spPr>
      </p:sp>
      <p:sp>
        <p:nvSpPr>
          <p:cNvPr id="7" name="badge 1"/>
          <p:cNvSpPr/>
          <p:nvPr/>
        </p:nvSpPr>
        <p:spPr>
          <a:xfrm>
            <a:off x="8092440" y="1920240"/>
            <a:ext cx="411480" cy="411480"/>
          </a:xfrm>
          <a:prstGeom prst="ellipse">
            <a:avLst/>
          </a:prstGeom>
          <a:solidFill>
            <a:schemeClr val="accent2"/>
          </a:solidFill>
          <a:ln w="12700">
            <a:solidFill>
              <a:schemeClr val="accent2"/>
            </a:solidFill>
            <a:prstDash val="solid"/>
          </a:ln>
        </p:spPr>
      </p:sp>
      <p:sp>
        <p:nvSpPr>
          <p:cNvPr id="8" name="Text 4"/>
          <p:cNvSpPr txBox="1"/>
          <p:nvPr/>
        </p:nvSpPr>
        <p:spPr>
          <a:xfrm>
            <a:off x="8092440" y="192024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5"/>
          <p:cNvSpPr txBox="1"/>
          <p:nvPr/>
        </p:nvSpPr>
        <p:spPr>
          <a:xfrm>
            <a:off x="8641080" y="1920240"/>
            <a:ext cx="2773375" cy="411480"/>
          </a:xfrm>
          <a:prstGeom prst="rect">
            <a:avLst/>
          </a:prstGeom>
          <a:noFill/>
          <a:ln/>
        </p:spPr>
        <p:txBody>
          <a:bodyPr wrap="square" lIns="0" tIns="0" rIns="0" bIns="0" rtlCol="0" anchor="ctr"/>
          <a:lstStyle/>
          <a:p>
            <a:pPr indent="0" marL="0">
              <a:buNone/>
            </a:pPr>
            <a:r>
              <a:rPr lang="en-US" sz="1700" b="1" dirty="0">
                <a:solidFill>
                  <a:schemeClr val="tx2"/>
                </a:solidFill>
              </a:rPr>
              <a:t>Location</a:t>
            </a:r>
            <a:endParaRPr lang="en-US" sz="1700" dirty="0"/>
          </a:p>
        </p:txBody>
      </p:sp>
      <p:sp>
        <p:nvSpPr>
          <p:cNvPr id="10" name="Text 6"/>
          <p:cNvSpPr txBox="1"/>
          <p:nvPr/>
        </p:nvSpPr>
        <p:spPr>
          <a:xfrm>
            <a:off x="8092440" y="2404872"/>
            <a:ext cx="3322015" cy="457200"/>
          </a:xfrm>
          <a:prstGeom prst="rect">
            <a:avLst/>
          </a:prstGeom>
          <a:noFill/>
          <a:ln/>
        </p:spPr>
        <p:txBody>
          <a:bodyPr wrap="square" lIns="0" tIns="0" rIns="0" bIns="0" rtlCol="0" anchor="ctr"/>
          <a:lstStyle/>
          <a:p>
            <a:pPr indent="0" marL="0">
              <a:buNone/>
            </a:pPr>
            <a:r>
              <a:rPr lang="en-US" sz="1300" dirty="0">
                <a:solidFill>
                  <a:schemeClr val="tx1"/>
                </a:solidFill>
              </a:rPr>
              <a:t>Longitude, latitude, state and region: regional labor markets</a:t>
            </a:r>
            <a:endParaRPr lang="en-US" sz="1300" dirty="0"/>
          </a:p>
        </p:txBody>
      </p:sp>
      <p:sp>
        <p:nvSpPr>
          <p:cNvPr id="11" name="driver Field baseline"/>
          <p:cNvSpPr/>
          <p:nvPr/>
        </p:nvSpPr>
        <p:spPr>
          <a:xfrm>
            <a:off x="7863840" y="3154680"/>
            <a:ext cx="3779215" cy="1234440"/>
          </a:xfrm>
          <a:prstGeom prst="roundRect">
            <a:avLst>
              <a:gd name="adj" fmla="val 5926"/>
            </a:avLst>
          </a:prstGeom>
          <a:solidFill>
            <a:schemeClr val="bg2"/>
          </a:solidFill>
          <a:ln w="12700">
            <a:solidFill>
              <a:schemeClr val="bg2"/>
            </a:solidFill>
            <a:prstDash val="solid"/>
          </a:ln>
        </p:spPr>
      </p:sp>
      <p:sp>
        <p:nvSpPr>
          <p:cNvPr id="12" name="badge 2"/>
          <p:cNvSpPr/>
          <p:nvPr/>
        </p:nvSpPr>
        <p:spPr>
          <a:xfrm>
            <a:off x="8092440" y="3383280"/>
            <a:ext cx="411480" cy="411480"/>
          </a:xfrm>
          <a:prstGeom prst="ellipse">
            <a:avLst/>
          </a:prstGeom>
          <a:solidFill>
            <a:schemeClr val="accent2"/>
          </a:solidFill>
          <a:ln w="12700">
            <a:solidFill>
              <a:schemeClr val="accent2"/>
            </a:solidFill>
            <a:prstDash val="solid"/>
          </a:ln>
        </p:spPr>
      </p:sp>
      <p:sp>
        <p:nvSpPr>
          <p:cNvPr id="13" name="Text 9"/>
          <p:cNvSpPr txBox="1"/>
          <p:nvPr/>
        </p:nvSpPr>
        <p:spPr>
          <a:xfrm>
            <a:off x="8092440" y="338328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4" name="Text 10"/>
          <p:cNvSpPr txBox="1"/>
          <p:nvPr/>
        </p:nvSpPr>
        <p:spPr>
          <a:xfrm>
            <a:off x="8641080" y="3383280"/>
            <a:ext cx="2773375" cy="411480"/>
          </a:xfrm>
          <a:prstGeom prst="rect">
            <a:avLst/>
          </a:prstGeom>
          <a:noFill/>
          <a:ln/>
        </p:spPr>
        <p:txBody>
          <a:bodyPr wrap="square" lIns="0" tIns="0" rIns="0" bIns="0" rtlCol="0" anchor="ctr"/>
          <a:lstStyle/>
          <a:p>
            <a:pPr indent="0" marL="0">
              <a:buNone/>
            </a:pPr>
            <a:r>
              <a:rPr lang="en-US" sz="1700" b="1" dirty="0">
                <a:solidFill>
                  <a:schemeClr val="tx2"/>
                </a:solidFill>
              </a:rPr>
              <a:t>Field baseline</a:t>
            </a:r>
            <a:endParaRPr lang="en-US" sz="1700" dirty="0"/>
          </a:p>
        </p:txBody>
      </p:sp>
      <p:sp>
        <p:nvSpPr>
          <p:cNvPr id="15" name="Text 11"/>
          <p:cNvSpPr txBox="1"/>
          <p:nvPr/>
        </p:nvSpPr>
        <p:spPr>
          <a:xfrm>
            <a:off x="8092440" y="3867912"/>
            <a:ext cx="3322015" cy="457200"/>
          </a:xfrm>
          <a:prstGeom prst="rect">
            <a:avLst/>
          </a:prstGeom>
          <a:noFill/>
          <a:ln/>
        </p:spPr>
        <p:txBody>
          <a:bodyPr wrap="square" lIns="0" tIns="0" rIns="0" bIns="0" rtlCol="0" anchor="ctr"/>
          <a:lstStyle/>
          <a:p>
            <a:pPr indent="0" marL="0">
              <a:buNone/>
            </a:pPr>
            <a:r>
              <a:rPr lang="en-US" sz="1300" dirty="0">
                <a:solidFill>
                  <a:schemeClr val="tx1"/>
                </a:solidFill>
              </a:rPr>
              <a:t>The field’s national earnings floor (25th percentile) and credential level</a:t>
            </a:r>
            <a:endParaRPr lang="en-US" sz="1300" dirty="0"/>
          </a:p>
        </p:txBody>
      </p:sp>
      <p:sp>
        <p:nvSpPr>
          <p:cNvPr id="16" name="driver School profile"/>
          <p:cNvSpPr/>
          <p:nvPr/>
        </p:nvSpPr>
        <p:spPr>
          <a:xfrm>
            <a:off x="7863840" y="4617720"/>
            <a:ext cx="3779215" cy="1234440"/>
          </a:xfrm>
          <a:prstGeom prst="roundRect">
            <a:avLst>
              <a:gd name="adj" fmla="val 5926"/>
            </a:avLst>
          </a:prstGeom>
          <a:solidFill>
            <a:schemeClr val="bg2"/>
          </a:solidFill>
          <a:ln w="12700">
            <a:solidFill>
              <a:schemeClr val="bg2"/>
            </a:solidFill>
            <a:prstDash val="solid"/>
          </a:ln>
        </p:spPr>
      </p:sp>
      <p:sp>
        <p:nvSpPr>
          <p:cNvPr id="17" name="badge 3"/>
          <p:cNvSpPr/>
          <p:nvPr/>
        </p:nvSpPr>
        <p:spPr>
          <a:xfrm>
            <a:off x="8092440" y="4846320"/>
            <a:ext cx="411480" cy="411480"/>
          </a:xfrm>
          <a:prstGeom prst="ellipse">
            <a:avLst/>
          </a:prstGeom>
          <a:solidFill>
            <a:schemeClr val="accent2"/>
          </a:solidFill>
          <a:ln w="12700">
            <a:solidFill>
              <a:schemeClr val="accent2"/>
            </a:solidFill>
            <a:prstDash val="solid"/>
          </a:ln>
        </p:spPr>
      </p:sp>
      <p:sp>
        <p:nvSpPr>
          <p:cNvPr id="18" name="Text 14"/>
          <p:cNvSpPr txBox="1"/>
          <p:nvPr/>
        </p:nvSpPr>
        <p:spPr>
          <a:xfrm>
            <a:off x="8092440" y="484632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15"/>
          <p:cNvSpPr txBox="1"/>
          <p:nvPr/>
        </p:nvSpPr>
        <p:spPr>
          <a:xfrm>
            <a:off x="8641080" y="4846320"/>
            <a:ext cx="2773375" cy="411480"/>
          </a:xfrm>
          <a:prstGeom prst="rect">
            <a:avLst/>
          </a:prstGeom>
          <a:noFill/>
          <a:ln/>
        </p:spPr>
        <p:txBody>
          <a:bodyPr wrap="square" lIns="0" tIns="0" rIns="0" bIns="0" rtlCol="0" anchor="ctr"/>
          <a:lstStyle/>
          <a:p>
            <a:pPr indent="0" marL="0">
              <a:buNone/>
            </a:pPr>
            <a:r>
              <a:rPr lang="en-US" sz="1700" b="1" dirty="0">
                <a:solidFill>
                  <a:schemeClr val="tx2"/>
                </a:solidFill>
              </a:rPr>
              <a:t>School profile</a:t>
            </a:r>
            <a:endParaRPr lang="en-US" sz="1700" dirty="0"/>
          </a:p>
        </p:txBody>
      </p:sp>
      <p:sp>
        <p:nvSpPr>
          <p:cNvPr id="20" name="Text 16"/>
          <p:cNvSpPr txBox="1"/>
          <p:nvPr/>
        </p:nvSpPr>
        <p:spPr>
          <a:xfrm>
            <a:off x="8092440" y="5330952"/>
            <a:ext cx="3322015" cy="457200"/>
          </a:xfrm>
          <a:prstGeom prst="rect">
            <a:avLst/>
          </a:prstGeom>
          <a:noFill/>
          <a:ln/>
        </p:spPr>
        <p:txBody>
          <a:bodyPr wrap="square" lIns="0" tIns="0" rIns="0" bIns="0" rtlCol="0" anchor="ctr"/>
          <a:lstStyle/>
          <a:p>
            <a:pPr indent="0" marL="0">
              <a:buNone/>
            </a:pPr>
            <a:r>
              <a:rPr lang="en-US" sz="1300" dirty="0">
                <a:solidFill>
                  <a:schemeClr val="tx1"/>
                </a:solidFill>
              </a:rPr>
              <a:t>Size, out-of-state tuition, SAT, admission rate, for-profit status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5 · CONCLUSION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Takeaway: where and what kind of school matters</a:t>
            </a:r>
            <a:endParaRPr lang="en-US" sz="3200" dirty="0"/>
          </a:p>
        </p:txBody>
      </p:sp>
      <p:sp>
        <p:nvSpPr>
          <p:cNvPr id="5" name="takeaway 1"/>
          <p:cNvSpPr/>
          <p:nvPr/>
        </p:nvSpPr>
        <p:spPr>
          <a:xfrm>
            <a:off x="548640" y="1600200"/>
            <a:ext cx="3515258" cy="3291840"/>
          </a:xfrm>
          <a:prstGeom prst="roundRect">
            <a:avLst>
              <a:gd name="adj" fmla="val 2222"/>
            </a:avLst>
          </a:prstGeom>
          <a:solidFill>
            <a:schemeClr val="bg2"/>
          </a:solidFill>
          <a:ln w="12700">
            <a:solidFill>
              <a:schemeClr val="bg2"/>
            </a:solidFill>
            <a:prstDash val="solid"/>
          </a:ln>
        </p:spPr>
      </p:sp>
      <p:sp>
        <p:nvSpPr>
          <p:cNvPr id="6" name="Text 3"/>
          <p:cNvSpPr txBox="1"/>
          <p:nvPr/>
        </p:nvSpPr>
        <p:spPr>
          <a:xfrm>
            <a:off x="822960" y="1828800"/>
            <a:ext cx="2966618" cy="1005840"/>
          </a:xfrm>
          <a:prstGeom prst="rect">
            <a:avLst/>
          </a:prstGeom>
          <a:noFill/>
          <a:ln/>
        </p:spPr>
        <p:txBody>
          <a:bodyPr wrap="square" lIns="0" tIns="0" rIns="0" bIns="0" rtlCol="0" anchor="ctr"/>
          <a:lstStyle/>
          <a:p>
            <a:pPr indent="0" marL="0">
              <a:buNone/>
            </a:pPr>
            <a:r>
              <a:rPr lang="en-US" sz="5400" b="1" dirty="0">
                <a:solidFill>
                  <a:schemeClr val="accent2"/>
                </a:solidFill>
                <a:latin typeface="Cambria" pitchFamily="34" charset="0"/>
                <a:ea typeface="Cambria" pitchFamily="34" charset="-122"/>
                <a:cs typeface="Cambria" pitchFamily="34" charset="-120"/>
              </a:rPr>
              <a:t>0.78</a:t>
            </a:r>
            <a:endParaRPr lang="en-US" sz="5400" dirty="0"/>
          </a:p>
        </p:txBody>
      </p:sp>
      <p:sp>
        <p:nvSpPr>
          <p:cNvPr id="7" name="Text 4"/>
          <p:cNvSpPr txBox="1"/>
          <p:nvPr/>
        </p:nvSpPr>
        <p:spPr>
          <a:xfrm>
            <a:off x="822960" y="2834640"/>
            <a:ext cx="2966618" cy="365760"/>
          </a:xfrm>
          <a:prstGeom prst="rect">
            <a:avLst/>
          </a:prstGeom>
          <a:noFill/>
          <a:ln/>
        </p:spPr>
        <p:txBody>
          <a:bodyPr wrap="square" lIns="0" tIns="0" rIns="0" bIns="0" rtlCol="0" anchor="ctr"/>
          <a:lstStyle/>
          <a:p>
            <a:pPr indent="0" marL="0">
              <a:buNone/>
            </a:pPr>
            <a:r>
              <a:rPr lang="en-US" sz="1500" b="1" dirty="0">
                <a:solidFill>
                  <a:schemeClr val="tx2"/>
                </a:solidFill>
              </a:rPr>
              <a:t>test AUC on unseen schools</a:t>
            </a:r>
            <a:endParaRPr lang="en-US" sz="1500" dirty="0"/>
          </a:p>
        </p:txBody>
      </p:sp>
      <p:sp>
        <p:nvSpPr>
          <p:cNvPr id="8" name="Text 5"/>
          <p:cNvSpPr txBox="1"/>
          <p:nvPr/>
        </p:nvSpPr>
        <p:spPr>
          <a:xfrm>
            <a:off x="822960" y="3337560"/>
            <a:ext cx="2966618" cy="2286000"/>
          </a:xfrm>
          <a:prstGeom prst="rect">
            <a:avLst/>
          </a:prstGeom>
          <a:noFill/>
          <a:ln/>
        </p:spPr>
        <p:txBody>
          <a:bodyPr wrap="square" lIns="0" tIns="0" rIns="0" bIns="0" rtlCol="0" anchor="t"/>
          <a:lstStyle/>
          <a:p>
            <a:pPr indent="0" marL="0">
              <a:buNone/>
            </a:pPr>
            <a:r>
              <a:rPr lang="en-US" sz="1500" dirty="0">
                <a:solidFill>
                  <a:schemeClr val="tx1"/>
                </a:solidFill>
              </a:rPr>
              <a:t>XGBoost flags above-median programs correctly about 70% of the time using only pre-enrollment information.</a:t>
            </a:r>
            <a:endParaRPr lang="en-US" sz="1500" dirty="0"/>
          </a:p>
        </p:txBody>
      </p:sp>
      <p:sp>
        <p:nvSpPr>
          <p:cNvPr id="9" name="takeaway 2"/>
          <p:cNvSpPr/>
          <p:nvPr/>
        </p:nvSpPr>
        <p:spPr>
          <a:xfrm>
            <a:off x="4338218" y="1600200"/>
            <a:ext cx="3515258" cy="3291840"/>
          </a:xfrm>
          <a:prstGeom prst="roundRect">
            <a:avLst>
              <a:gd name="adj" fmla="val 2222"/>
            </a:avLst>
          </a:prstGeom>
          <a:solidFill>
            <a:schemeClr val="bg2"/>
          </a:solidFill>
          <a:ln w="12700">
            <a:solidFill>
              <a:schemeClr val="bg2"/>
            </a:solidFill>
            <a:prstDash val="solid"/>
          </a:ln>
        </p:spPr>
      </p:sp>
      <p:sp>
        <p:nvSpPr>
          <p:cNvPr id="10" name="Text 7"/>
          <p:cNvSpPr txBox="1"/>
          <p:nvPr/>
        </p:nvSpPr>
        <p:spPr>
          <a:xfrm>
            <a:off x="4612538" y="1828800"/>
            <a:ext cx="2966618"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1" name="Text 8"/>
          <p:cNvSpPr txBox="1"/>
          <p:nvPr/>
        </p:nvSpPr>
        <p:spPr>
          <a:xfrm>
            <a:off x="4612538" y="2834640"/>
            <a:ext cx="2966618" cy="365760"/>
          </a:xfrm>
          <a:prstGeom prst="rect">
            <a:avLst/>
          </a:prstGeom>
          <a:noFill/>
          <a:ln/>
        </p:spPr>
        <p:txBody>
          <a:bodyPr wrap="square" lIns="0" tIns="0" rIns="0" bIns="0" rtlCol="0" anchor="ctr"/>
          <a:lstStyle/>
          <a:p>
            <a:pPr indent="0" marL="0">
              <a:buNone/>
            </a:pPr>
            <a:r>
              <a:rPr lang="en-US" sz="1500" b="1" dirty="0">
                <a:solidFill>
                  <a:schemeClr val="tx2"/>
                </a:solidFill>
              </a:rPr>
              <a:t>driver is location</a:t>
            </a:r>
            <a:endParaRPr lang="en-US" sz="1500" dirty="0"/>
          </a:p>
        </p:txBody>
      </p:sp>
      <p:sp>
        <p:nvSpPr>
          <p:cNvPr id="12" name="Text 9"/>
          <p:cNvSpPr txBox="1"/>
          <p:nvPr/>
        </p:nvSpPr>
        <p:spPr>
          <a:xfrm>
            <a:off x="4612538" y="3337560"/>
            <a:ext cx="2966618" cy="2286000"/>
          </a:xfrm>
          <a:prstGeom prst="rect">
            <a:avLst/>
          </a:prstGeom>
          <a:noFill/>
          <a:ln/>
        </p:spPr>
        <p:txBody>
          <a:bodyPr wrap="square" lIns="0" tIns="0" rIns="0" bIns="0" rtlCol="0" anchor="t"/>
          <a:lstStyle/>
          <a:p>
            <a:pPr indent="0" marL="0">
              <a:buNone/>
            </a:pPr>
            <a:r>
              <a:rPr lang="en-US" sz="1500" dirty="0">
                <a:solidFill>
                  <a:schemeClr val="tx1"/>
                </a:solidFill>
              </a:rPr>
              <a:t>The same major pays very differently by region. Students should weigh the regional labor market, not just the major.</a:t>
            </a:r>
            <a:endParaRPr lang="en-US" sz="1500" dirty="0"/>
          </a:p>
        </p:txBody>
      </p:sp>
      <p:sp>
        <p:nvSpPr>
          <p:cNvPr id="13" name="takeaway 3"/>
          <p:cNvSpPr/>
          <p:nvPr/>
        </p:nvSpPr>
        <p:spPr>
          <a:xfrm>
            <a:off x="8127797" y="1600200"/>
            <a:ext cx="3515258" cy="3291840"/>
          </a:xfrm>
          <a:prstGeom prst="roundRect">
            <a:avLst>
              <a:gd name="adj" fmla="val 2222"/>
            </a:avLst>
          </a:prstGeom>
          <a:solidFill>
            <a:schemeClr val="bg2"/>
          </a:solidFill>
          <a:ln w="12700">
            <a:solidFill>
              <a:schemeClr val="bg2"/>
            </a:solidFill>
            <a:prstDash val="solid"/>
          </a:ln>
        </p:spPr>
      </p:sp>
      <p:sp>
        <p:nvSpPr>
          <p:cNvPr id="14" name="Text 11"/>
          <p:cNvSpPr txBox="1"/>
          <p:nvPr/>
        </p:nvSpPr>
        <p:spPr>
          <a:xfrm>
            <a:off x="8402117" y="1828800"/>
            <a:ext cx="2966618" cy="100584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+8</a:t>
            </a:r>
            <a:endParaRPr lang="en-US" sz="5400" dirty="0"/>
          </a:p>
        </p:txBody>
      </p:sp>
      <p:sp>
        <p:nvSpPr>
          <p:cNvPr id="15" name="Text 12"/>
          <p:cNvSpPr txBox="1"/>
          <p:nvPr/>
        </p:nvSpPr>
        <p:spPr>
          <a:xfrm>
            <a:off x="8402117" y="2834640"/>
            <a:ext cx="2966618" cy="365760"/>
          </a:xfrm>
          <a:prstGeom prst="rect">
            <a:avLst/>
          </a:prstGeom>
          <a:noFill/>
          <a:ln/>
        </p:spPr>
        <p:txBody>
          <a:bodyPr wrap="square" lIns="0" tIns="0" rIns="0" bIns="0" rtlCol="0" anchor="ctr"/>
          <a:lstStyle/>
          <a:p>
            <a:pPr indent="0" marL="0">
              <a:buNone/>
            </a:pPr>
            <a:r>
              <a:rPr lang="en-US" sz="1500" b="1" dirty="0">
                <a:solidFill>
                  <a:schemeClr val="tx2"/>
                </a:solidFill>
              </a:rPr>
              <a:t>AUC points from ensembling</a:t>
            </a:r>
            <a:endParaRPr lang="en-US" sz="1500" dirty="0"/>
          </a:p>
        </p:txBody>
      </p:sp>
      <p:sp>
        <p:nvSpPr>
          <p:cNvPr id="16" name="Text 13"/>
          <p:cNvSpPr txBox="1"/>
          <p:nvPr/>
        </p:nvSpPr>
        <p:spPr>
          <a:xfrm>
            <a:off x="8402117" y="3337560"/>
            <a:ext cx="2966618" cy="2286000"/>
          </a:xfrm>
          <a:prstGeom prst="rect">
            <a:avLst/>
          </a:prstGeom>
          <a:noFill/>
          <a:ln/>
        </p:spPr>
        <p:txBody>
          <a:bodyPr wrap="square" lIns="0" tIns="0" rIns="0" bIns="0" rtlCol="0" anchor="t"/>
          <a:lstStyle/>
          <a:p>
            <a:pPr indent="0" marL="0">
              <a:buNone/>
            </a:pPr>
            <a:r>
              <a:rPr lang="en-US" sz="1500" dirty="0">
                <a:solidFill>
                  <a:schemeClr val="tx1"/>
                </a:solidFill>
              </a:rPr>
              <a:t>Bagging and boosting trees beat a single tree and a linear model on this tabular data.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5 · CONCLUSION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What we learned along the way</a:t>
            </a:r>
            <a:endParaRPr lang="en-US" sz="3200" dirty="0"/>
          </a:p>
        </p:txBody>
      </p:sp>
      <p:sp>
        <p:nvSpPr>
          <p:cNvPr id="5" name="lesson 1"/>
          <p:cNvSpPr/>
          <p:nvPr/>
        </p:nvSpPr>
        <p:spPr>
          <a:xfrm>
            <a:off x="548640" y="1508760"/>
            <a:ext cx="5410048" cy="1325880"/>
          </a:xfrm>
          <a:prstGeom prst="roundRect">
            <a:avLst>
              <a:gd name="adj" fmla="val 5517"/>
            </a:avLst>
          </a:prstGeom>
          <a:solidFill>
            <a:schemeClr val="bg2"/>
          </a:solidFill>
          <a:ln w="12700">
            <a:solidFill>
              <a:schemeClr val="bg2"/>
            </a:solidFill>
            <a:prstDash val="solid"/>
          </a:ln>
        </p:spPr>
      </p:sp>
      <p:sp>
        <p:nvSpPr>
          <p:cNvPr id="6" name="badge 1"/>
          <p:cNvSpPr/>
          <p:nvPr/>
        </p:nvSpPr>
        <p:spPr>
          <a:xfrm>
            <a:off x="777240" y="1737360"/>
            <a:ext cx="411480" cy="411480"/>
          </a:xfrm>
          <a:prstGeom prst="ellipse">
            <a:avLst/>
          </a:prstGeom>
          <a:solidFill>
            <a:schemeClr val="accent2"/>
          </a:solidFill>
          <a:ln w="12700">
            <a:solidFill>
              <a:schemeClr val="accent2"/>
            </a:solidFill>
            <a:prstDash val="solid"/>
          </a:ln>
        </p:spPr>
      </p:sp>
      <p:sp>
        <p:nvSpPr>
          <p:cNvPr id="7" name="Text 4"/>
          <p:cNvSpPr txBox="1"/>
          <p:nvPr/>
        </p:nvSpPr>
        <p:spPr>
          <a:xfrm>
            <a:off x="777240" y="173736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1325880" y="1737360"/>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Check for leakage first</a:t>
            </a:r>
            <a:endParaRPr lang="en-US" sz="1600" dirty="0"/>
          </a:p>
        </p:txBody>
      </p:sp>
      <p:sp>
        <p:nvSpPr>
          <p:cNvPr id="9" name="Text 6"/>
          <p:cNvSpPr txBox="1"/>
          <p:nvPr/>
        </p:nvSpPr>
        <p:spPr>
          <a:xfrm>
            <a:off x="1325880" y="2167128"/>
            <a:ext cx="4404208" cy="594360"/>
          </a:xfrm>
          <a:prstGeom prst="rect">
            <a:avLst/>
          </a:prstGeom>
          <a:noFill/>
          <a:ln/>
        </p:spPr>
        <p:txBody>
          <a:bodyPr wrap="square" lIns="0" tIns="0" rIns="0" bIns="0" rtlCol="0" anchor="t"/>
          <a:lstStyle/>
          <a:p>
            <a:pPr indent="0" marL="0">
              <a:buNone/>
            </a:pPr>
            <a:r>
              <a:rPr lang="en-US" sz="1300" dirty="0">
                <a:solidFill>
                  <a:schemeClr val="tx1"/>
                </a:solidFill>
              </a:rPr>
              <a:t>About a third of the columns were measured after graduation. Including them would have produced a near-perfect but useless model.</a:t>
            </a:r>
            <a:endParaRPr lang="en-US" sz="1300" dirty="0"/>
          </a:p>
        </p:txBody>
      </p:sp>
      <p:sp>
        <p:nvSpPr>
          <p:cNvPr id="10" name="lesson 2"/>
          <p:cNvSpPr/>
          <p:nvPr/>
        </p:nvSpPr>
        <p:spPr>
          <a:xfrm>
            <a:off x="6233008" y="1508760"/>
            <a:ext cx="5410048" cy="1325880"/>
          </a:xfrm>
          <a:prstGeom prst="roundRect">
            <a:avLst>
              <a:gd name="adj" fmla="val 5517"/>
            </a:avLst>
          </a:prstGeom>
          <a:solidFill>
            <a:schemeClr val="bg2"/>
          </a:solidFill>
          <a:ln w="12700">
            <a:solidFill>
              <a:schemeClr val="bg2"/>
            </a:solidFill>
            <a:prstDash val="solid"/>
          </a:ln>
        </p:spPr>
      </p:sp>
      <p:sp>
        <p:nvSpPr>
          <p:cNvPr id="11" name="badge 2"/>
          <p:cNvSpPr/>
          <p:nvPr/>
        </p:nvSpPr>
        <p:spPr>
          <a:xfrm>
            <a:off x="6461608" y="1737360"/>
            <a:ext cx="411480" cy="411480"/>
          </a:xfrm>
          <a:prstGeom prst="ellipse">
            <a:avLst/>
          </a:prstGeom>
          <a:solidFill>
            <a:schemeClr val="accent2"/>
          </a:solidFill>
          <a:ln w="12700">
            <a:solidFill>
              <a:schemeClr val="accent2"/>
            </a:solidFill>
            <a:prstDash val="solid"/>
          </a:ln>
        </p:spPr>
      </p:sp>
      <p:sp>
        <p:nvSpPr>
          <p:cNvPr id="12" name="Text 9"/>
          <p:cNvSpPr txBox="1"/>
          <p:nvPr/>
        </p:nvSpPr>
        <p:spPr>
          <a:xfrm>
            <a:off x="6461608" y="1737360"/>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0"/>
          <p:cNvSpPr txBox="1"/>
          <p:nvPr/>
        </p:nvSpPr>
        <p:spPr>
          <a:xfrm>
            <a:off x="7010248" y="1737360"/>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Split by the right unit</a:t>
            </a:r>
            <a:endParaRPr lang="en-US" sz="1600" dirty="0"/>
          </a:p>
        </p:txBody>
      </p:sp>
      <p:sp>
        <p:nvSpPr>
          <p:cNvPr id="14" name="Text 11"/>
          <p:cNvSpPr txBox="1"/>
          <p:nvPr/>
        </p:nvSpPr>
        <p:spPr>
          <a:xfrm>
            <a:off x="7010248" y="2167128"/>
            <a:ext cx="4404208" cy="594360"/>
          </a:xfrm>
          <a:prstGeom prst="rect">
            <a:avLst/>
          </a:prstGeom>
          <a:noFill/>
          <a:ln/>
        </p:spPr>
        <p:txBody>
          <a:bodyPr wrap="square" lIns="0" tIns="0" rIns="0" bIns="0" rtlCol="0" anchor="t"/>
          <a:lstStyle/>
          <a:p>
            <a:pPr indent="0" marL="0">
              <a:buNone/>
            </a:pPr>
            <a:r>
              <a:rPr lang="en-US" sz="1300" dirty="0">
                <a:solidFill>
                  <a:schemeClr val="tx1"/>
                </a:solidFill>
              </a:rPr>
              <a:t>A random split lets models memorize schools. Grouping by institution keeps the test honest.</a:t>
            </a:r>
            <a:endParaRPr lang="en-US" sz="1300" dirty="0"/>
          </a:p>
        </p:txBody>
      </p:sp>
      <p:sp>
        <p:nvSpPr>
          <p:cNvPr id="15" name="lesson 3"/>
          <p:cNvSpPr/>
          <p:nvPr/>
        </p:nvSpPr>
        <p:spPr>
          <a:xfrm>
            <a:off x="548640" y="3035808"/>
            <a:ext cx="5410048" cy="1325880"/>
          </a:xfrm>
          <a:prstGeom prst="roundRect">
            <a:avLst>
              <a:gd name="adj" fmla="val 5517"/>
            </a:avLst>
          </a:prstGeom>
          <a:solidFill>
            <a:schemeClr val="bg2"/>
          </a:solidFill>
          <a:ln w="12700">
            <a:solidFill>
              <a:schemeClr val="bg2"/>
            </a:solidFill>
            <a:prstDash val="solid"/>
          </a:ln>
        </p:spPr>
      </p:sp>
      <p:sp>
        <p:nvSpPr>
          <p:cNvPr id="16" name="badge 3"/>
          <p:cNvSpPr/>
          <p:nvPr/>
        </p:nvSpPr>
        <p:spPr>
          <a:xfrm>
            <a:off x="777240" y="3264408"/>
            <a:ext cx="411480" cy="411480"/>
          </a:xfrm>
          <a:prstGeom prst="ellipse">
            <a:avLst/>
          </a:prstGeom>
          <a:solidFill>
            <a:schemeClr val="accent2"/>
          </a:solidFill>
          <a:ln w="12700">
            <a:solidFill>
              <a:schemeClr val="accent2"/>
            </a:solidFill>
            <a:prstDash val="solid"/>
          </a:ln>
        </p:spPr>
      </p:sp>
      <p:sp>
        <p:nvSpPr>
          <p:cNvPr id="17" name="Text 14"/>
          <p:cNvSpPr txBox="1"/>
          <p:nvPr/>
        </p:nvSpPr>
        <p:spPr>
          <a:xfrm>
            <a:off x="777240" y="326440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5"/>
          <p:cNvSpPr txBox="1"/>
          <p:nvPr/>
        </p:nvSpPr>
        <p:spPr>
          <a:xfrm>
            <a:off x="1325880" y="3264408"/>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Inspect "duplicates"</a:t>
            </a:r>
            <a:endParaRPr lang="en-US" sz="1600" dirty="0"/>
          </a:p>
        </p:txBody>
      </p:sp>
      <p:sp>
        <p:nvSpPr>
          <p:cNvPr id="19" name="Text 16"/>
          <p:cNvSpPr txBox="1"/>
          <p:nvPr/>
        </p:nvSpPr>
        <p:spPr>
          <a:xfrm>
            <a:off x="1325880" y="3694176"/>
            <a:ext cx="4404208" cy="594360"/>
          </a:xfrm>
          <a:prstGeom prst="rect">
            <a:avLst/>
          </a:prstGeom>
          <a:noFill/>
          <a:ln/>
        </p:spPr>
        <p:txBody>
          <a:bodyPr wrap="square" lIns="0" tIns="0" rIns="0" bIns="0" rtlCol="0" anchor="t"/>
          <a:lstStyle/>
          <a:p>
            <a:pPr indent="0" marL="0">
              <a:buNone/>
            </a:pPr>
            <a:r>
              <a:rPr lang="en-US" sz="1300" dirty="0">
                <a:solidFill>
                  <a:schemeClr val="tx1"/>
                </a:solidFill>
              </a:rPr>
              <a:t>6,245 rows were one shared campus outcome repeated, which is a data-structure issue rather than an error.</a:t>
            </a:r>
            <a:endParaRPr lang="en-US" sz="1300" dirty="0"/>
          </a:p>
        </p:txBody>
      </p:sp>
      <p:sp>
        <p:nvSpPr>
          <p:cNvPr id="20" name="lesson 4"/>
          <p:cNvSpPr/>
          <p:nvPr/>
        </p:nvSpPr>
        <p:spPr>
          <a:xfrm>
            <a:off x="6233008" y="3035808"/>
            <a:ext cx="5410048" cy="1325880"/>
          </a:xfrm>
          <a:prstGeom prst="roundRect">
            <a:avLst>
              <a:gd name="adj" fmla="val 5517"/>
            </a:avLst>
          </a:prstGeom>
          <a:solidFill>
            <a:schemeClr val="bg2"/>
          </a:solidFill>
          <a:ln w="12700">
            <a:solidFill>
              <a:schemeClr val="bg2"/>
            </a:solidFill>
            <a:prstDash val="solid"/>
          </a:ln>
        </p:spPr>
      </p:sp>
      <p:sp>
        <p:nvSpPr>
          <p:cNvPr id="21" name="badge 4"/>
          <p:cNvSpPr/>
          <p:nvPr/>
        </p:nvSpPr>
        <p:spPr>
          <a:xfrm>
            <a:off x="6461608" y="3264408"/>
            <a:ext cx="411480" cy="411480"/>
          </a:xfrm>
          <a:prstGeom prst="ellipse">
            <a:avLst/>
          </a:prstGeom>
          <a:solidFill>
            <a:schemeClr val="accent2"/>
          </a:solidFill>
          <a:ln w="12700">
            <a:solidFill>
              <a:schemeClr val="accent2"/>
            </a:solidFill>
            <a:prstDash val="solid"/>
          </a:ln>
        </p:spPr>
      </p:sp>
      <p:sp>
        <p:nvSpPr>
          <p:cNvPr id="22" name="Text 19"/>
          <p:cNvSpPr txBox="1"/>
          <p:nvPr/>
        </p:nvSpPr>
        <p:spPr>
          <a:xfrm>
            <a:off x="6461608" y="3264408"/>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3" name="Text 20"/>
          <p:cNvSpPr txBox="1"/>
          <p:nvPr/>
        </p:nvSpPr>
        <p:spPr>
          <a:xfrm>
            <a:off x="7010248" y="3264408"/>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Reframe the target</a:t>
            </a:r>
            <a:endParaRPr lang="en-US" sz="1600" dirty="0"/>
          </a:p>
        </p:txBody>
      </p:sp>
      <p:sp>
        <p:nvSpPr>
          <p:cNvPr id="24" name="Text 21"/>
          <p:cNvSpPr txBox="1"/>
          <p:nvPr/>
        </p:nvSpPr>
        <p:spPr>
          <a:xfrm>
            <a:off x="7010248" y="3694176"/>
            <a:ext cx="4404208" cy="594360"/>
          </a:xfrm>
          <a:prstGeom prst="rect">
            <a:avLst/>
          </a:prstGeom>
          <a:noFill/>
          <a:ln/>
        </p:spPr>
        <p:txBody>
          <a:bodyPr wrap="square" lIns="0" tIns="0" rIns="0" bIns="0" rtlCol="0" anchor="t"/>
          <a:lstStyle/>
          <a:p>
            <a:pPr indent="0" marL="0">
              <a:buNone/>
            </a:pPr>
            <a:r>
              <a:rPr lang="en-US" sz="1300" dirty="0">
                <a:solidFill>
                  <a:schemeClr val="tx1"/>
                </a:solidFill>
              </a:rPr>
              <a:t>Benchmarking against the field median turned an obvious question into a useful, balanced one.</a:t>
            </a:r>
            <a:endParaRPr lang="en-US" sz="1300" dirty="0"/>
          </a:p>
        </p:txBody>
      </p:sp>
      <p:sp>
        <p:nvSpPr>
          <p:cNvPr id="25" name="lesson 5"/>
          <p:cNvSpPr/>
          <p:nvPr/>
        </p:nvSpPr>
        <p:spPr>
          <a:xfrm>
            <a:off x="548640" y="4562856"/>
            <a:ext cx="5410048" cy="1325880"/>
          </a:xfrm>
          <a:prstGeom prst="roundRect">
            <a:avLst>
              <a:gd name="adj" fmla="val 5517"/>
            </a:avLst>
          </a:prstGeom>
          <a:solidFill>
            <a:schemeClr val="bg2"/>
          </a:solidFill>
          <a:ln w="12700">
            <a:solidFill>
              <a:schemeClr val="bg2"/>
            </a:solidFill>
            <a:prstDash val="solid"/>
          </a:ln>
        </p:spPr>
      </p:sp>
      <p:sp>
        <p:nvSpPr>
          <p:cNvPr id="26" name="badge 5"/>
          <p:cNvSpPr/>
          <p:nvPr/>
        </p:nvSpPr>
        <p:spPr>
          <a:xfrm>
            <a:off x="777240" y="4791456"/>
            <a:ext cx="411480" cy="411480"/>
          </a:xfrm>
          <a:prstGeom prst="ellipse">
            <a:avLst/>
          </a:prstGeom>
          <a:solidFill>
            <a:schemeClr val="accent2"/>
          </a:solidFill>
          <a:ln w="12700">
            <a:solidFill>
              <a:schemeClr val="accent2"/>
            </a:solidFill>
            <a:prstDash val="solid"/>
          </a:ln>
        </p:spPr>
      </p:sp>
      <p:sp>
        <p:nvSpPr>
          <p:cNvPr id="27" name="Text 24"/>
          <p:cNvSpPr txBox="1"/>
          <p:nvPr/>
        </p:nvSpPr>
        <p:spPr>
          <a:xfrm>
            <a:off x="777240" y="4791456"/>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8" name="Text 25"/>
          <p:cNvSpPr txBox="1"/>
          <p:nvPr/>
        </p:nvSpPr>
        <p:spPr>
          <a:xfrm>
            <a:off x="1325880" y="4791456"/>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Tune with CV, test once</a:t>
            </a:r>
            <a:endParaRPr lang="en-US" sz="1600" dirty="0"/>
          </a:p>
        </p:txBody>
      </p:sp>
      <p:sp>
        <p:nvSpPr>
          <p:cNvPr id="29" name="Text 26"/>
          <p:cNvSpPr txBox="1"/>
          <p:nvPr/>
        </p:nvSpPr>
        <p:spPr>
          <a:xfrm>
            <a:off x="1325880" y="5221224"/>
            <a:ext cx="4404208" cy="594360"/>
          </a:xfrm>
          <a:prstGeom prst="rect">
            <a:avLst/>
          </a:prstGeom>
          <a:noFill/>
          <a:ln/>
        </p:spPr>
        <p:txBody>
          <a:bodyPr wrap="square" lIns="0" tIns="0" rIns="0" bIns="0" rtlCol="0" anchor="t"/>
          <a:lstStyle/>
          <a:p>
            <a:pPr indent="0" marL="0">
              <a:buNone/>
            </a:pPr>
            <a:r>
              <a:rPr lang="en-US" sz="1300" dirty="0">
                <a:solidFill>
                  <a:schemeClr val="tx1"/>
                </a:solidFill>
              </a:rPr>
              <a:t>CV and test AUC stayed within ~0.01 for most models, so tuning did not overfit.</a:t>
            </a:r>
            <a:endParaRPr lang="en-US" sz="1300" dirty="0"/>
          </a:p>
        </p:txBody>
      </p:sp>
      <p:sp>
        <p:nvSpPr>
          <p:cNvPr id="30" name="lesson 6"/>
          <p:cNvSpPr/>
          <p:nvPr/>
        </p:nvSpPr>
        <p:spPr>
          <a:xfrm>
            <a:off x="6233008" y="4562856"/>
            <a:ext cx="5410048" cy="1325880"/>
          </a:xfrm>
          <a:prstGeom prst="roundRect">
            <a:avLst>
              <a:gd name="adj" fmla="val 5517"/>
            </a:avLst>
          </a:prstGeom>
          <a:solidFill>
            <a:schemeClr val="bg2"/>
          </a:solidFill>
          <a:ln w="12700">
            <a:solidFill>
              <a:schemeClr val="bg2"/>
            </a:solidFill>
            <a:prstDash val="solid"/>
          </a:ln>
        </p:spPr>
      </p:sp>
      <p:sp>
        <p:nvSpPr>
          <p:cNvPr id="31" name="badge 6"/>
          <p:cNvSpPr/>
          <p:nvPr/>
        </p:nvSpPr>
        <p:spPr>
          <a:xfrm>
            <a:off x="6461608" y="4791456"/>
            <a:ext cx="411480" cy="411480"/>
          </a:xfrm>
          <a:prstGeom prst="ellipse">
            <a:avLst/>
          </a:prstGeom>
          <a:solidFill>
            <a:schemeClr val="accent2"/>
          </a:solidFill>
          <a:ln w="12700">
            <a:solidFill>
              <a:schemeClr val="accent2"/>
            </a:solidFill>
            <a:prstDash val="solid"/>
          </a:ln>
        </p:spPr>
      </p:sp>
      <p:sp>
        <p:nvSpPr>
          <p:cNvPr id="32" name="Text 29"/>
          <p:cNvSpPr txBox="1"/>
          <p:nvPr/>
        </p:nvSpPr>
        <p:spPr>
          <a:xfrm>
            <a:off x="6461608" y="4791456"/>
            <a:ext cx="411480" cy="41148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3" name="Text 30"/>
          <p:cNvSpPr txBox="1"/>
          <p:nvPr/>
        </p:nvSpPr>
        <p:spPr>
          <a:xfrm>
            <a:off x="7010248" y="4791456"/>
            <a:ext cx="4404208" cy="411480"/>
          </a:xfrm>
          <a:prstGeom prst="rect">
            <a:avLst/>
          </a:prstGeom>
          <a:noFill/>
          <a:ln/>
        </p:spPr>
        <p:txBody>
          <a:bodyPr wrap="square" lIns="0" tIns="0" rIns="0" bIns="0" rtlCol="0" anchor="ctr"/>
          <a:lstStyle/>
          <a:p>
            <a:pPr indent="0" marL="0">
              <a:buNone/>
            </a:pPr>
            <a:r>
              <a:rPr lang="en-US" sz="1600" b="1" dirty="0">
                <a:solidFill>
                  <a:schemeClr val="tx2"/>
                </a:solidFill>
              </a:rPr>
              <a:t>Ensembles win on tabular data</a:t>
            </a:r>
            <a:endParaRPr lang="en-US" sz="1600" dirty="0"/>
          </a:p>
        </p:txBody>
      </p:sp>
      <p:sp>
        <p:nvSpPr>
          <p:cNvPr id="34" name="Text 31"/>
          <p:cNvSpPr txBox="1"/>
          <p:nvPr/>
        </p:nvSpPr>
        <p:spPr>
          <a:xfrm>
            <a:off x="7010248" y="5221224"/>
            <a:ext cx="4404208" cy="594360"/>
          </a:xfrm>
          <a:prstGeom prst="rect">
            <a:avLst/>
          </a:prstGeom>
          <a:noFill/>
          <a:ln/>
        </p:spPr>
        <p:txBody>
          <a:bodyPr wrap="square" lIns="0" tIns="0" rIns="0" bIns="0" rtlCol="0" anchor="t"/>
          <a:lstStyle/>
          <a:p>
            <a:pPr indent="0" marL="0">
              <a:buNone/>
            </a:pPr>
            <a:r>
              <a:rPr lang="en-US" sz="1300" dirty="0">
                <a:solidFill>
                  <a:schemeClr val="tx1"/>
                </a:solidFill>
              </a:rPr>
              <a:t>Bagging and boosting beat a single tree and a linear model.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7315200" cy="274320"/>
          </a:xfrm>
          <a:prstGeom prst="rect">
            <a:avLst/>
          </a:prstGeom>
          <a:noFill/>
          <a:ln/>
        </p:spPr>
        <p:txBody>
          <a:bodyPr wrap="square" lIns="0" tIns="0" rIns="0" bIns="0" rtlCol="0"/>
          <a:lstStyle/>
          <a:p>
            <a:pPr indent="0" marL="0">
              <a:buNone/>
            </a:pPr>
            <a:r>
              <a:rPr lang="en-US" sz="1200" b="1" spc="200" kern="0" dirty="0">
                <a:solidFill>
                  <a:schemeClr val="accent2"/>
                </a:solidFill>
              </a:rPr>
              <a:t>5 · CONCLUSION</a:t>
            </a:r>
            <a:endParaRPr lang="en-US" sz="12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algn="l" indent="0" marL="0">
              <a:buNone/>
            </a:pPr>
            <a:r>
              <a:rPr lang="en-US" sz="3200" b="1" dirty="0">
                <a:solidFill>
                  <a:schemeClr val="tx2"/>
                </a:solidFill>
              </a:rPr>
              <a:t>Limitations and next steps</a:t>
            </a:r>
            <a:endParaRPr lang="en-US" sz="3200" dirty="0"/>
          </a:p>
        </p:txBody>
      </p:sp>
      <p:sp>
        <p:nvSpPr>
          <p:cNvPr id="5" name="Text 2"/>
          <p:cNvSpPr txBox="1"/>
          <p:nvPr/>
        </p:nvSpPr>
        <p:spPr>
          <a:xfrm>
            <a:off x="548640" y="1554480"/>
            <a:ext cx="5303520" cy="45720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6" name="Limitations 0"/>
          <p:cNvSpPr/>
          <p:nvPr/>
        </p:nvSpPr>
        <p:spPr>
          <a:xfrm>
            <a:off x="548640" y="2194560"/>
            <a:ext cx="5394960" cy="1097280"/>
          </a:xfrm>
          <a:prstGeom prst="roundRect">
            <a:avLst>
              <a:gd name="adj" fmla="val 6667"/>
            </a:avLst>
          </a:prstGeom>
          <a:solidFill>
            <a:schemeClr val="bg2"/>
          </a:solidFill>
          <a:ln w="12700">
            <a:solidFill>
              <a:schemeClr val="bg2"/>
            </a:solidFill>
            <a:prstDash val="solid"/>
          </a:ln>
        </p:spPr>
      </p:sp>
      <p:sp>
        <p:nvSpPr>
          <p:cNvPr id="7" name="Text 4"/>
          <p:cNvSpPr txBox="1"/>
          <p:nvPr/>
        </p:nvSpPr>
        <p:spPr>
          <a:xfrm>
            <a:off x="777240" y="230428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Only reported programs</a:t>
            </a:r>
            <a:endParaRPr lang="en-US" sz="1600" dirty="0"/>
          </a:p>
        </p:txBody>
      </p:sp>
      <p:sp>
        <p:nvSpPr>
          <p:cNvPr id="8" name="Text 5"/>
          <p:cNvSpPr txBox="1"/>
          <p:nvPr/>
        </p:nvSpPr>
        <p:spPr>
          <a:xfrm>
            <a:off x="777240" y="2670048"/>
            <a:ext cx="4937760" cy="548640"/>
          </a:xfrm>
          <a:prstGeom prst="rect">
            <a:avLst/>
          </a:prstGeom>
          <a:noFill/>
          <a:ln/>
        </p:spPr>
        <p:txBody>
          <a:bodyPr wrap="square" lIns="0" tIns="0" rIns="0" bIns="0" rtlCol="0" anchor="t"/>
          <a:lstStyle/>
          <a:p>
            <a:pPr indent="0" marL="0">
              <a:buNone/>
            </a:pPr>
            <a:r>
              <a:rPr lang="en-US" sz="1300" dirty="0">
                <a:solidFill>
                  <a:schemeClr val="tx1"/>
                </a:solidFill>
              </a:rPr>
              <a:t>74.5% of programs are privacy-suppressed; small programs may differ</a:t>
            </a:r>
            <a:endParaRPr lang="en-US" sz="1300" dirty="0"/>
          </a:p>
        </p:txBody>
      </p:sp>
      <p:sp>
        <p:nvSpPr>
          <p:cNvPr id="9" name="Limitations 1"/>
          <p:cNvSpPr/>
          <p:nvPr/>
        </p:nvSpPr>
        <p:spPr>
          <a:xfrm>
            <a:off x="548640" y="3474720"/>
            <a:ext cx="5394960" cy="1097280"/>
          </a:xfrm>
          <a:prstGeom prst="roundRect">
            <a:avLst>
              <a:gd name="adj" fmla="val 6667"/>
            </a:avLst>
          </a:prstGeom>
          <a:solidFill>
            <a:schemeClr val="bg2"/>
          </a:solidFill>
          <a:ln w="12700">
            <a:solidFill>
              <a:schemeClr val="bg2"/>
            </a:solidFill>
            <a:prstDash val="solid"/>
          </a:ln>
        </p:spPr>
      </p:sp>
      <p:sp>
        <p:nvSpPr>
          <p:cNvPr id="10" name="Text 7"/>
          <p:cNvSpPr txBox="1"/>
          <p:nvPr/>
        </p:nvSpPr>
        <p:spPr>
          <a:xfrm>
            <a:off x="777240" y="358444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Location ≠ quality</a:t>
            </a:r>
            <a:endParaRPr lang="en-US" sz="1600" dirty="0"/>
          </a:p>
        </p:txBody>
      </p:sp>
      <p:sp>
        <p:nvSpPr>
          <p:cNvPr id="11" name="Text 8"/>
          <p:cNvSpPr txBox="1"/>
          <p:nvPr/>
        </p:nvSpPr>
        <p:spPr>
          <a:xfrm>
            <a:off x="777240" y="3950208"/>
            <a:ext cx="4937760" cy="548640"/>
          </a:xfrm>
          <a:prstGeom prst="rect">
            <a:avLst/>
          </a:prstGeom>
          <a:noFill/>
          <a:ln/>
        </p:spPr>
        <p:txBody>
          <a:bodyPr wrap="square" lIns="0" tIns="0" rIns="0" bIns="0" rtlCol="0" anchor="t"/>
          <a:lstStyle/>
          <a:p>
            <a:pPr indent="0" marL="0">
              <a:buNone/>
            </a:pPr>
            <a:r>
              <a:rPr lang="en-US" sz="1300" dirty="0">
                <a:solidFill>
                  <a:schemeClr val="tx1"/>
                </a:solidFill>
              </a:rPr>
              <a:t>Regional wages and cost of living likely drive part of the location effect</a:t>
            </a:r>
            <a:endParaRPr lang="en-US" sz="1300" dirty="0"/>
          </a:p>
        </p:txBody>
      </p:sp>
      <p:sp>
        <p:nvSpPr>
          <p:cNvPr id="12" name="Limitations 2"/>
          <p:cNvSpPr/>
          <p:nvPr/>
        </p:nvSpPr>
        <p:spPr>
          <a:xfrm>
            <a:off x="548640" y="4754880"/>
            <a:ext cx="5394960" cy="1097280"/>
          </a:xfrm>
          <a:prstGeom prst="roundRect">
            <a:avLst>
              <a:gd name="adj" fmla="val 6667"/>
            </a:avLst>
          </a:prstGeom>
          <a:solidFill>
            <a:schemeClr val="bg2"/>
          </a:solidFill>
          <a:ln w="12700">
            <a:solidFill>
              <a:schemeClr val="bg2"/>
            </a:solidFill>
            <a:prstDash val="solid"/>
          </a:ln>
        </p:spPr>
      </p:sp>
      <p:sp>
        <p:nvSpPr>
          <p:cNvPr id="13" name="Text 10"/>
          <p:cNvSpPr txBox="1"/>
          <p:nvPr/>
        </p:nvSpPr>
        <p:spPr>
          <a:xfrm>
            <a:off x="777240" y="486460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Association, not causation</a:t>
            </a:r>
            <a:endParaRPr lang="en-US" sz="1600" dirty="0"/>
          </a:p>
        </p:txBody>
      </p:sp>
      <p:sp>
        <p:nvSpPr>
          <p:cNvPr id="14" name="Text 11"/>
          <p:cNvSpPr txBox="1"/>
          <p:nvPr/>
        </p:nvSpPr>
        <p:spPr>
          <a:xfrm>
            <a:off x="777240" y="5230368"/>
            <a:ext cx="4937760" cy="548640"/>
          </a:xfrm>
          <a:prstGeom prst="rect">
            <a:avLst/>
          </a:prstGeom>
          <a:noFill/>
          <a:ln/>
        </p:spPr>
        <p:txBody>
          <a:bodyPr wrap="square" lIns="0" tIns="0" rIns="0" bIns="0" rtlCol="0" anchor="t"/>
          <a:lstStyle/>
          <a:p>
            <a:pPr indent="0" marL="0">
              <a:buNone/>
            </a:pPr>
            <a:r>
              <a:rPr lang="en-US" sz="1300" dirty="0">
                <a:solidFill>
                  <a:schemeClr val="tx1"/>
                </a:solidFill>
              </a:rPr>
              <a:t>Schools differ in who enrolls, not only in what they teach</a:t>
            </a:r>
            <a:endParaRPr lang="en-US" sz="1300" dirty="0"/>
          </a:p>
        </p:txBody>
      </p:sp>
      <p:sp>
        <p:nvSpPr>
          <p:cNvPr id="15" name="Text 12"/>
          <p:cNvSpPr txBox="1"/>
          <p:nvPr/>
        </p:nvSpPr>
        <p:spPr>
          <a:xfrm>
            <a:off x="6245352" y="1554480"/>
            <a:ext cx="5303520" cy="457200"/>
          </a:xfrm>
          <a:prstGeom prst="rect">
            <a:avLst/>
          </a:prstGeom>
          <a:noFill/>
          <a:ln/>
        </p:spPr>
        <p:txBody>
          <a:bodyPr wrap="square" lIns="0" tIns="0" rIns="0" bIns="0" rtlCol="0" anchor="ctr"/>
          <a:lstStyle/>
          <a:p>
            <a:pPr indent="0" marL="0">
              <a:buNone/>
            </a:pPr>
            <a:r>
              <a:rPr lang="en-US" sz="2000" b="1" dirty="0">
                <a:solidFill>
                  <a:schemeClr val="tx2"/>
                </a:solidFill>
              </a:rPr>
              <a:t>Next steps</a:t>
            </a:r>
            <a:endParaRPr lang="en-US" sz="2000" dirty="0"/>
          </a:p>
        </p:txBody>
      </p:sp>
      <p:sp>
        <p:nvSpPr>
          <p:cNvPr id="16" name="Next steps 0"/>
          <p:cNvSpPr/>
          <p:nvPr/>
        </p:nvSpPr>
        <p:spPr>
          <a:xfrm>
            <a:off x="6245352" y="2194560"/>
            <a:ext cx="5394960" cy="1097280"/>
          </a:xfrm>
          <a:prstGeom prst="roundRect">
            <a:avLst>
              <a:gd name="adj" fmla="val 6667"/>
            </a:avLst>
          </a:prstGeom>
          <a:solidFill>
            <a:schemeClr val="bg2"/>
          </a:solidFill>
          <a:ln w="12700">
            <a:solidFill>
              <a:schemeClr val="bg2"/>
            </a:solidFill>
            <a:prstDash val="solid"/>
          </a:ln>
        </p:spPr>
      </p:sp>
      <p:sp>
        <p:nvSpPr>
          <p:cNvPr id="17" name="Text 14"/>
          <p:cNvSpPr txBox="1"/>
          <p:nvPr/>
        </p:nvSpPr>
        <p:spPr>
          <a:xfrm>
            <a:off x="6473952" y="230428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Cost-of-living adjustment</a:t>
            </a:r>
            <a:endParaRPr lang="en-US" sz="1600" dirty="0"/>
          </a:p>
        </p:txBody>
      </p:sp>
      <p:sp>
        <p:nvSpPr>
          <p:cNvPr id="18" name="Text 15"/>
          <p:cNvSpPr txBox="1"/>
          <p:nvPr/>
        </p:nvSpPr>
        <p:spPr>
          <a:xfrm>
            <a:off x="6473952" y="2670048"/>
            <a:ext cx="4937760" cy="548640"/>
          </a:xfrm>
          <a:prstGeom prst="rect">
            <a:avLst/>
          </a:prstGeom>
          <a:noFill/>
          <a:ln/>
        </p:spPr>
        <p:txBody>
          <a:bodyPr wrap="square" lIns="0" tIns="0" rIns="0" bIns="0" rtlCol="0" anchor="t"/>
          <a:lstStyle/>
          <a:p>
            <a:pPr indent="0" marL="0">
              <a:buNone/>
            </a:pPr>
            <a:r>
              <a:rPr lang="en-US" sz="1300" dirty="0">
                <a:solidFill>
                  <a:schemeClr val="tx1"/>
                </a:solidFill>
              </a:rPr>
              <a:t>Separate a high-wage region from a high-value program</a:t>
            </a:r>
            <a:endParaRPr lang="en-US" sz="1300" dirty="0"/>
          </a:p>
        </p:txBody>
      </p:sp>
      <p:sp>
        <p:nvSpPr>
          <p:cNvPr id="19" name="Next steps 1"/>
          <p:cNvSpPr/>
          <p:nvPr/>
        </p:nvSpPr>
        <p:spPr>
          <a:xfrm>
            <a:off x="6245352" y="3474720"/>
            <a:ext cx="5394960" cy="1097280"/>
          </a:xfrm>
          <a:prstGeom prst="roundRect">
            <a:avLst>
              <a:gd name="adj" fmla="val 6667"/>
            </a:avLst>
          </a:prstGeom>
          <a:solidFill>
            <a:schemeClr val="bg2"/>
          </a:solidFill>
          <a:ln w="12700">
            <a:solidFill>
              <a:schemeClr val="bg2"/>
            </a:solidFill>
            <a:prstDash val="solid"/>
          </a:ln>
        </p:spPr>
      </p:sp>
      <p:sp>
        <p:nvSpPr>
          <p:cNvPr id="20" name="Text 17"/>
          <p:cNvSpPr txBox="1"/>
          <p:nvPr/>
        </p:nvSpPr>
        <p:spPr>
          <a:xfrm>
            <a:off x="6473952" y="358444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Segment models</a:t>
            </a:r>
            <a:endParaRPr lang="en-US" sz="1600" dirty="0"/>
          </a:p>
        </p:txBody>
      </p:sp>
      <p:sp>
        <p:nvSpPr>
          <p:cNvPr id="21" name="Text 18"/>
          <p:cNvSpPr txBox="1"/>
          <p:nvPr/>
        </p:nvSpPr>
        <p:spPr>
          <a:xfrm>
            <a:off x="6473952" y="3950208"/>
            <a:ext cx="4937760" cy="548640"/>
          </a:xfrm>
          <a:prstGeom prst="rect">
            <a:avLst/>
          </a:prstGeom>
          <a:noFill/>
          <a:ln/>
        </p:spPr>
        <p:txBody>
          <a:bodyPr wrap="square" lIns="0" tIns="0" rIns="0" bIns="0" rtlCol="0" anchor="t"/>
          <a:lstStyle/>
          <a:p>
            <a:pPr indent="0" marL="0">
              <a:buNone/>
            </a:pPr>
            <a:r>
              <a:rPr lang="en-US" sz="1300" dirty="0">
                <a:solidFill>
                  <a:schemeClr val="tx1"/>
                </a:solidFill>
              </a:rPr>
              <a:t>Separate models for undergrad vs. grad, or K-Means school clusters (Lecture 10)</a:t>
            </a:r>
            <a:endParaRPr lang="en-US" sz="1300" dirty="0"/>
          </a:p>
        </p:txBody>
      </p:sp>
      <p:sp>
        <p:nvSpPr>
          <p:cNvPr id="22" name="Next steps 2"/>
          <p:cNvSpPr/>
          <p:nvPr/>
        </p:nvSpPr>
        <p:spPr>
          <a:xfrm>
            <a:off x="6245352" y="4754880"/>
            <a:ext cx="5394960" cy="1097280"/>
          </a:xfrm>
          <a:prstGeom prst="roundRect">
            <a:avLst>
              <a:gd name="adj" fmla="val 6667"/>
            </a:avLst>
          </a:prstGeom>
          <a:solidFill>
            <a:schemeClr val="bg2"/>
          </a:solidFill>
          <a:ln w="12700">
            <a:solidFill>
              <a:schemeClr val="bg2"/>
            </a:solidFill>
            <a:prstDash val="solid"/>
          </a:ln>
        </p:spPr>
      </p:sp>
      <p:sp>
        <p:nvSpPr>
          <p:cNvPr id="23" name="Text 20"/>
          <p:cNvSpPr txBox="1"/>
          <p:nvPr/>
        </p:nvSpPr>
        <p:spPr>
          <a:xfrm>
            <a:off x="6473952" y="4864608"/>
            <a:ext cx="4937760" cy="365760"/>
          </a:xfrm>
          <a:prstGeom prst="rect">
            <a:avLst/>
          </a:prstGeom>
          <a:noFill/>
          <a:ln/>
        </p:spPr>
        <p:txBody>
          <a:bodyPr wrap="square" lIns="0" tIns="0" rIns="0" bIns="0" rtlCol="0" anchor="ctr"/>
          <a:lstStyle/>
          <a:p>
            <a:pPr indent="0" marL="0">
              <a:buNone/>
            </a:pPr>
            <a:r>
              <a:rPr lang="en-US" sz="1600" b="1" dirty="0">
                <a:solidFill>
                  <a:schemeClr val="accent1"/>
                </a:solidFill>
              </a:rPr>
              <a:t>Explain each prediction</a:t>
            </a:r>
            <a:endParaRPr lang="en-US" sz="1600" dirty="0"/>
          </a:p>
        </p:txBody>
      </p:sp>
      <p:sp>
        <p:nvSpPr>
          <p:cNvPr id="24" name="Text 21"/>
          <p:cNvSpPr txBox="1"/>
          <p:nvPr/>
        </p:nvSpPr>
        <p:spPr>
          <a:xfrm>
            <a:off x="6473952" y="5230368"/>
            <a:ext cx="4937760" cy="548640"/>
          </a:xfrm>
          <a:prstGeom prst="rect">
            <a:avLst/>
          </a:prstGeom>
          <a:noFill/>
          <a:ln/>
        </p:spPr>
        <p:txBody>
          <a:bodyPr wrap="square" lIns="0" tIns="0" rIns="0" bIns="0" rtlCol="0" anchor="t"/>
          <a:lstStyle/>
          <a:p>
            <a:pPr indent="0" marL="0">
              <a:buNone/>
            </a:pPr>
            <a:r>
              <a:rPr lang="en-US" sz="1300" dirty="0">
                <a:solidFill>
                  <a:schemeClr val="tx1"/>
                </a:solidFill>
              </a:rPr>
              <a:t>SHAP values so a student sees why a program was flagged</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9601200" cy="1463040"/>
          </a:xfrm>
          <a:prstGeom prst="rect">
            <a:avLst/>
          </a:prstGeom>
          <a:noFill/>
          <a:ln/>
        </p:spPr>
        <p:txBody>
          <a:bodyPr wrap="square" lIns="0" tIns="0" rIns="0" bIns="0" rtlCol="0" anchor="b"/>
          <a:lstStyle/>
          <a:p>
            <a:pPr algn="l" indent="0" marL="0">
              <a:buNone/>
            </a:pPr>
            <a:r>
              <a:rPr lang="en-US" sz="4800" b="1" dirty="0">
                <a:solidFill>
                  <a:schemeClr val="bg1"/>
                </a:solidFill>
              </a:rPr>
              <a:t>Thank you · Questions?</a:t>
            </a:r>
            <a:endParaRPr lang="en-US" sz="4800" dirty="0"/>
          </a:p>
        </p:txBody>
      </p:sp>
      <p:sp>
        <p:nvSpPr>
          <p:cNvPr id="3" name="Text 0"/>
          <p:cNvSpPr/>
          <p:nvPr>
            <p:ph idx="101" type="body" hasCustomPrompt="1"/>
          </p:nvPr>
        </p:nvSpPr>
        <p:spPr>
          <a:xfrm>
            <a:off x="548640" y="3611880"/>
            <a:ext cx="9601200" cy="1188720"/>
          </a:xfrm>
          <a:prstGeom prst="rect">
            <a:avLst/>
          </a:prstGeom>
          <a:noFill/>
          <a:ln/>
        </p:spPr>
        <p:txBody>
          <a:bodyPr wrap="square" lIns="0" tIns="0" rIns="0" bIns="0" rtlCol="0" anchor="t"/>
          <a:lstStyle/>
          <a:p>
            <a:pPr indent="0" marL="0">
              <a:buNone/>
            </a:pPr>
            <a:r>
              <a:rPr lang="en-US" sz="2000" dirty="0">
                <a:solidFill>
                  <a:schemeClr val="accent5"/>
                </a:solidFill>
              </a:rPr>
              <a:t>Code, figures and report: github.com/____/college-earnings-ml</a:t>
            </a:r>
            <a:endParaRPr lang="en-US" sz="2000" dirty="0"/>
          </a:p>
        </p:txBody>
      </p:sp>
      <p:sp>
        <p:nvSpPr>
          <p:cNvPr id="4" name="Text 2"/>
          <p:cNvSpPr txBox="1"/>
          <p:nvPr/>
        </p:nvSpPr>
        <p:spPr>
          <a:xfrm>
            <a:off x="548640" y="5760720"/>
            <a:ext cx="10058400" cy="548640"/>
          </a:xfrm>
          <a:prstGeom prst="rect">
            <a:avLst/>
          </a:prstGeom>
          <a:noFill/>
          <a:ln/>
        </p:spPr>
        <p:txBody>
          <a:bodyPr wrap="square" lIns="0" tIns="0" rIns="0" bIns="0" rtlCol="0" anchor="ctr"/>
          <a:lstStyle/>
          <a:p>
            <a:pPr indent="0" marL="0">
              <a:buNone/>
            </a:pPr>
            <a:r>
              <a:rPr lang="en-US" sz="1200" i="1" dirty="0">
                <a:solidFill>
                  <a:schemeClr val="accent3"/>
                </a:solidFill>
              </a:rPr>
              <a:t>GenAI disclosure: analysis code, report text and these slides were drafted with Claude (Anthropic); the conversation is submitted per course policy.</a:t>
            </a:r>
            <a:endParaRPr lang="en-US" sz="1200" dirty="0"/>
          </a:p>
        </p:txBody>
      </p:sp>
    </p:spTree>
  </p:cSld>
  <p:clrMapOvr>
    <a:masterClrMapping/>
  </p:clrMapOvr>
</p:sld>
</file>

<file path=ppt/theme/theme1.xml><?xml version="1.0" encoding="utf-8"?>
<a:theme xmlns:a="http://schemas.openxmlformats.org/drawingml/2006/main" name="Program Payoff">
  <a:themeElements>
    <a:clrScheme name="Program Payoff">
      <a:dk1>
        <a:srgbClr val="1A1A1A"/>
      </a:dk1>
      <a:lt1>
        <a:srgbClr val="FFFFFF"/>
      </a:lt1>
      <a:dk2>
        <a:srgbClr val="1F4E3D"/>
      </a:dk2>
      <a:lt2>
        <a:srgbClr val="EEF3F0"/>
      </a:lt2>
      <a:accent1>
        <a:srgbClr val="2E6B57"/>
      </a:accent1>
      <a:accent2>
        <a:srgbClr val="C98B1B"/>
      </a:accent2>
      <a:accent3>
        <a:srgbClr val="8FB8A6"/>
      </a:accent3>
      <a:accent4>
        <a:srgbClr val="5F6B66"/>
      </a:accent4>
      <a:accent5>
        <a:srgbClr val="D9E6DF"/>
      </a:accent5>
      <a:accent6>
        <a:srgbClr val="7A4E0F"/>
      </a:accent6>
      <a:hlink>
        <a:srgbClr val="2E6B57"/>
      </a:hlink>
      <a:folHlink>
        <a:srgbClr val="5F6B66"/>
      </a:folHlink>
    </a:clrScheme>
    <a:fontScheme name="Program Payof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This Program Pay Off?</dc:title>
  <dc:subject>PptxGenJS Presentation</dc:subject>
  <dc:creator>PptxGenJS</dc:creator>
  <cp:lastModifiedBy>PptxGenJS</cp:lastModifiedBy>
  <cp:revision>1</cp:revision>
  <dcterms:created xsi:type="dcterms:W3CDTF">2026-10-29T15:46:53Z</dcterms:created>
  <dcterms:modified xsi:type="dcterms:W3CDTF">2026-10-29T15:46:53Z</dcterms:modified>
</cp:coreProperties>
</file>